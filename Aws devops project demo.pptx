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5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74" r:id="rId6"/>
    <p:sldId id="275" r:id="rId7"/>
    <p:sldId id="276" r:id="rId8"/>
    <p:sldId id="277" r:id="rId9"/>
    <p:sldId id="278" r:id="rId10"/>
    <p:sldId id="269" r:id="rId11"/>
    <p:sldId id="270" r:id="rId12"/>
    <p:sldId id="271" r:id="rId13"/>
    <p:sldId id="272" r:id="rId14"/>
    <p:sldId id="273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5EC375-A4B0-4D64-B877-AD968D66DB5F}">
          <p14:sldIdLst>
            <p14:sldId id="256"/>
            <p14:sldId id="257"/>
            <p14:sldId id="258"/>
            <p14:sldId id="260"/>
            <p14:sldId id="274"/>
            <p14:sldId id="275"/>
            <p14:sldId id="276"/>
            <p14:sldId id="277"/>
            <p14:sldId id="278"/>
            <p14:sldId id="269"/>
            <p14:sldId id="270"/>
            <p14:sldId id="271"/>
            <p14:sldId id="272"/>
            <p14:sldId id="273"/>
          </p14:sldIdLst>
        </p14:section>
        <p14:section name="Untitled Section" id="{1F05D811-3AE7-43CE-BFA8-2452AA92A13C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F4F3"/>
    <a:srgbClr val="FFFFC9"/>
    <a:srgbClr val="CDDEFF"/>
    <a:srgbClr val="FDF1A9"/>
    <a:srgbClr val="CBAF05"/>
    <a:srgbClr val="FCC0E4"/>
    <a:srgbClr val="F30D96"/>
    <a:srgbClr val="FFEEB9"/>
    <a:srgbClr val="ABFBF7"/>
    <a:srgbClr val="B9E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61CE4-82FA-455B-B832-F74520E2CD6C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9D1CC-6A00-498D-973C-BC9D0B77B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2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124DE7-986B-44BE-9DD8-744BD3D3F9D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041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5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50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3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53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6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40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0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7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4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0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42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91097-AD0D-451F-AFBD-815F0AF366C1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2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2331" y="2211119"/>
            <a:ext cx="9144000" cy="1655762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7030A0"/>
                </a:solidFill>
                <a:latin typeface="+mj-lt"/>
              </a:rPr>
              <a:t>WELCOME TO AWS DEVOPS PROJECT OVERVIEW</a:t>
            </a:r>
            <a:endParaRPr lang="en-US" sz="6000" dirty="0" smtClean="0">
              <a:solidFill>
                <a:srgbClr val="7030A0"/>
              </a:solidFill>
              <a:latin typeface="+mj-lt"/>
            </a:endParaRPr>
          </a:p>
          <a:p>
            <a:endParaRPr lang="en-US" sz="6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578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user\Downloads\project work flow [MConverter.eu] (1)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769441"/>
            <a:ext cx="12192000" cy="6088559"/>
          </a:xfrm>
          <a:prstGeom prst="rect">
            <a:avLst/>
          </a:prstGeom>
          <a:pattFill prst="pct10">
            <a:fgClr>
              <a:srgbClr val="08B8B0"/>
            </a:fgClr>
            <a:bgClr>
              <a:schemeClr val="bg1"/>
            </a:bgClr>
          </a:pattFill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2339975" y="0"/>
            <a:ext cx="709001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3500" marR="0" algn="ctr">
              <a:spcBef>
                <a:spcPts val="305"/>
              </a:spcBef>
              <a:spcAft>
                <a:spcPts val="0"/>
              </a:spcAft>
            </a:pPr>
            <a:r>
              <a:rPr lang="en-US" sz="4400" b="1" dirty="0" smtClean="0">
                <a:solidFill>
                  <a:srgbClr val="A40020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DEVOPS PROJECT WORK FLOW</a:t>
            </a:r>
            <a:endParaRPr lang="en-US" sz="4400" dirty="0">
              <a:effectLst/>
              <a:latin typeface="+mj-lt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33235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B8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9530" y="416728"/>
            <a:ext cx="78188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05"/>
              </a:spcBef>
              <a:tabLst>
                <a:tab pos="2266950" algn="l"/>
              </a:tabLst>
            </a:pPr>
            <a:r>
              <a:rPr lang="en-US" sz="5400" b="1" dirty="0" smtClean="0">
                <a:solidFill>
                  <a:srgbClr val="FF0000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DEVOPS ENVIRONMENT</a:t>
            </a:r>
            <a:endParaRPr lang="en-US" sz="5400" dirty="0">
              <a:solidFill>
                <a:srgbClr val="FF0000"/>
              </a:solidFill>
              <a:effectLst/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3" name="Picture 2" descr="C:\Users\user\Desktop\DEVOPS STRUCTURE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340058"/>
            <a:ext cx="10607040" cy="4857824"/>
          </a:xfrm>
          <a:prstGeom prst="rect">
            <a:avLst/>
          </a:prstGeom>
          <a:noFill/>
          <a:ln>
            <a:noFill/>
          </a:ln>
          <a:effectLst>
            <a:softEdge rad="50800"/>
          </a:effectLst>
          <a:scene3d>
            <a:camera prst="orthographicFront"/>
            <a:lightRig rig="threePt" dir="t"/>
          </a:scene3d>
          <a:sp3d extrusionH="76200">
            <a:extrusionClr>
              <a:schemeClr val="accent2">
                <a:lumMod val="60000"/>
                <a:lumOff val="40000"/>
              </a:schemeClr>
            </a:extrusionClr>
          </a:sp3d>
        </p:spPr>
      </p:pic>
    </p:spTree>
    <p:extLst>
      <p:ext uri="{BB962C8B-B14F-4D97-AF65-F5344CB8AC3E}">
        <p14:creationId xmlns:p14="http://schemas.microsoft.com/office/powerpoint/2010/main" val="322453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rgbClr val="08B8B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9680" y="126609"/>
            <a:ext cx="34490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600A38"/>
                </a:solidFill>
                <a:effectLst/>
                <a:latin typeface="+mj-lt"/>
                <a:ea typeface="Calibri" panose="020F0502020204030204" pitchFamily="34" charset="0"/>
              </a:rPr>
              <a:t>Cloud</a:t>
            </a:r>
            <a:r>
              <a:rPr lang="en-US" sz="4400" b="1" spc="-45" dirty="0" smtClean="0">
                <a:solidFill>
                  <a:srgbClr val="600A38"/>
                </a:solidFill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4400" b="1" spc="-10" dirty="0" smtClean="0">
                <a:solidFill>
                  <a:srgbClr val="600A38"/>
                </a:solidFill>
                <a:effectLst/>
                <a:latin typeface="+mj-lt"/>
                <a:ea typeface="Calibri" panose="020F0502020204030204" pitchFamily="34" charset="0"/>
              </a:rPr>
              <a:t>Services</a:t>
            </a:r>
            <a:endParaRPr lang="en-US" sz="4400" b="1" dirty="0">
              <a:latin typeface="+mj-lt"/>
            </a:endParaRPr>
          </a:p>
        </p:txBody>
      </p:sp>
      <p:pic>
        <p:nvPicPr>
          <p:cNvPr id="3" name="Imag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1" y="896050"/>
            <a:ext cx="10944664" cy="564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480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03384"/>
          </a:xfrm>
          <a:solidFill>
            <a:srgbClr val="B9D0FF"/>
          </a:solidFill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+mn-lt"/>
              </a:rPr>
              <a:t>AWS</a:t>
            </a:r>
            <a:endParaRPr lang="en-US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" y="703385"/>
            <a:ext cx="6260123" cy="615461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</a:rPr>
              <a:t>Module 1 - Introduction To Cloud Computing &amp; AWS Preview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/>
              <a:t> </a:t>
            </a:r>
            <a:r>
              <a:rPr lang="en-US" sz="2400" b="1" dirty="0" smtClean="0">
                <a:solidFill>
                  <a:srgbClr val="7030A0"/>
                </a:solidFill>
              </a:rPr>
              <a:t>Cloud Computing Introduction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Cloud Service and Deployment Models What Is AWS?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AWS Service Domains Virtualization In AWS </a:t>
            </a:r>
            <a:r>
              <a:rPr lang="en-US" sz="2400" b="1" dirty="0" err="1" smtClean="0">
                <a:solidFill>
                  <a:srgbClr val="7030A0"/>
                </a:solidFill>
              </a:rPr>
              <a:t>Aws</a:t>
            </a:r>
            <a:r>
              <a:rPr lang="en-US" sz="2400" b="1" dirty="0" smtClean="0">
                <a:solidFill>
                  <a:srgbClr val="7030A0"/>
                </a:solidFill>
              </a:rPr>
              <a:t> account Creation.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</a:rPr>
              <a:t>Module 2 – Elastic compute cloud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Introduction To EC2 Pre-EC2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Instance Tenancy, Reserved and Spot Instances EC2 Instance Types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Launching </a:t>
            </a:r>
            <a:r>
              <a:rPr lang="en-US" sz="2400" b="1" dirty="0">
                <a:solidFill>
                  <a:srgbClr val="7030A0"/>
                </a:solidFill>
              </a:rPr>
              <a:t>An Instance What Is An AMI?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Creating And Copying An AMI.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Instance </a:t>
            </a:r>
            <a:r>
              <a:rPr lang="en-US" sz="2400" b="1" dirty="0">
                <a:solidFill>
                  <a:srgbClr val="7030A0"/>
                </a:solidFill>
              </a:rPr>
              <a:t>Termination</a:t>
            </a:r>
          </a:p>
          <a:p>
            <a:pPr marL="0" indent="0">
              <a:buNone/>
            </a:pPr>
            <a:endParaRPr lang="en-US" sz="24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0122" y="703384"/>
            <a:ext cx="5931878" cy="6154615"/>
          </a:xfrm>
          <a:gradFill>
            <a:gsLst>
              <a:gs pos="48692">
                <a:srgbClr val="66FFFF"/>
              </a:gs>
              <a:gs pos="0">
                <a:schemeClr val="bg2"/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</a:rPr>
              <a:t>Module-3- Elastic block storage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Introduction To EBS </a:t>
            </a:r>
            <a:r>
              <a:rPr lang="en-US" sz="2400" b="1" dirty="0" err="1">
                <a:solidFill>
                  <a:srgbClr val="7030A0"/>
                </a:solidFill>
              </a:rPr>
              <a:t>EBS</a:t>
            </a:r>
            <a:r>
              <a:rPr lang="en-US" sz="2400" b="1" dirty="0">
                <a:solidFill>
                  <a:srgbClr val="7030A0"/>
                </a:solidFill>
              </a:rPr>
              <a:t> Concepts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EBS Snapshots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Creating And Mounting an EBS Volume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AWS </a:t>
            </a:r>
            <a:r>
              <a:rPr lang="en-US" sz="2400" b="1" dirty="0">
                <a:solidFill>
                  <a:srgbClr val="7030A0"/>
                </a:solidFill>
              </a:rPr>
              <a:t>EBS Multi-Attach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 algn="ctr">
              <a:buNone/>
            </a:pPr>
            <a:endParaRPr lang="en-US" sz="24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Module-4- </a:t>
            </a:r>
            <a:r>
              <a:rPr lang="en-US" sz="2400" b="1" dirty="0" smtClean="0">
                <a:solidFill>
                  <a:srgbClr val="FF0000"/>
                </a:solidFill>
              </a:rPr>
              <a:t>Elastic File storage</a:t>
            </a:r>
          </a:p>
          <a:p>
            <a:pPr marL="0" indent="0" algn="ctr">
              <a:buNone/>
            </a:pPr>
            <a:endParaRPr lang="en-US" sz="24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Introduction To EFS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Creating </a:t>
            </a:r>
            <a:r>
              <a:rPr lang="en-US" sz="2400" b="1" dirty="0">
                <a:solidFill>
                  <a:srgbClr val="7030A0"/>
                </a:solidFill>
              </a:rPr>
              <a:t>And Mounting An EFS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Pricing </a:t>
            </a:r>
            <a:r>
              <a:rPr lang="en-US" sz="2400" b="1" dirty="0">
                <a:solidFill>
                  <a:srgbClr val="7030A0"/>
                </a:solidFill>
              </a:rPr>
              <a:t>And Design Patterns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79760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ABFBF7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9800" y="0"/>
            <a:ext cx="6172200" cy="6858000"/>
          </a:xfrm>
          <a:solidFill>
            <a:srgbClr val="D1F4F3"/>
          </a:solidFill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</a:rPr>
              <a:t>Module-6- Auto scaling group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Introduction </a:t>
            </a:r>
            <a:r>
              <a:rPr lang="en-US" sz="2400" b="1" dirty="0">
                <a:solidFill>
                  <a:srgbClr val="7030A0"/>
                </a:solidFill>
              </a:rPr>
              <a:t>To Auto Scaling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Lifecycle </a:t>
            </a:r>
            <a:r>
              <a:rPr lang="en-US" sz="2400" b="1" dirty="0">
                <a:solidFill>
                  <a:srgbClr val="7030A0"/>
                </a:solidFill>
              </a:rPr>
              <a:t>Of Auto Scaling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Components </a:t>
            </a:r>
            <a:r>
              <a:rPr lang="en-US" sz="2400" b="1" dirty="0">
                <a:solidFill>
                  <a:srgbClr val="7030A0"/>
                </a:solidFill>
              </a:rPr>
              <a:t>Of Auto Scaling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Scaling </a:t>
            </a:r>
            <a:r>
              <a:rPr lang="en-US" sz="2400" b="1" dirty="0">
                <a:solidFill>
                  <a:srgbClr val="7030A0"/>
                </a:solidFill>
              </a:rPr>
              <a:t>Policy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ELB And AS Integration Creating Auto Scaling Groups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Integrating Auto Scaling Group To The ALB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/>
            </a:r>
            <a:br>
              <a:rPr lang="en-US" b="1" dirty="0">
                <a:solidFill>
                  <a:srgbClr val="7030A0"/>
                </a:solidFill>
              </a:rPr>
            </a:b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  <a:solidFill>
            <a:srgbClr val="FCC0E4"/>
          </a:solidFill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Module-5- </a:t>
            </a:r>
            <a:r>
              <a:rPr lang="en-US" sz="2400" b="1" dirty="0">
                <a:solidFill>
                  <a:srgbClr val="FF0000"/>
                </a:solidFill>
              </a:rPr>
              <a:t>Elastic Load </a:t>
            </a:r>
            <a:r>
              <a:rPr lang="en-US" sz="2400" b="1" dirty="0" smtClean="0">
                <a:solidFill>
                  <a:srgbClr val="FF0000"/>
                </a:solidFill>
              </a:rPr>
              <a:t>Balancer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Introduction </a:t>
            </a:r>
            <a:r>
              <a:rPr lang="en-US" sz="2400" b="1" dirty="0">
                <a:solidFill>
                  <a:srgbClr val="7030A0"/>
                </a:solidFill>
              </a:rPr>
              <a:t>To ELB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Load Balancer Architecture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Load Balancers setup</a:t>
            </a:r>
            <a:endParaRPr lang="en-US" sz="2400" b="1" dirty="0">
              <a:solidFill>
                <a:srgbClr val="7030A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Creating </a:t>
            </a:r>
            <a:r>
              <a:rPr lang="en-US" sz="2400" b="1" dirty="0" smtClean="0">
                <a:solidFill>
                  <a:srgbClr val="7030A0"/>
                </a:solidFill>
              </a:rPr>
              <a:t>Classic , Application and </a:t>
            </a:r>
            <a:r>
              <a:rPr lang="en-US" sz="2400" b="1" dirty="0">
                <a:solidFill>
                  <a:srgbClr val="7030A0"/>
                </a:solidFill>
              </a:rPr>
              <a:t>Network Load Balancer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Cross-Zone </a:t>
            </a:r>
            <a:r>
              <a:rPr lang="en-US" sz="2400" b="1" dirty="0">
                <a:solidFill>
                  <a:srgbClr val="7030A0"/>
                </a:solidFill>
              </a:rPr>
              <a:t>Load Balancing</a:t>
            </a:r>
          </a:p>
          <a:p>
            <a:pPr marL="0" indent="0" algn="ctr">
              <a:buNone/>
            </a:pPr>
            <a:endParaRPr lang="en-US" sz="24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Module-7- </a:t>
            </a:r>
            <a:r>
              <a:rPr lang="en-US" sz="2400" b="1" dirty="0">
                <a:solidFill>
                  <a:srgbClr val="FF0000"/>
                </a:solidFill>
              </a:rPr>
              <a:t>Route53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Pre-Route 53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Hosting Our Website and DNS Literature Routing Policy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err="1" smtClean="0">
                <a:solidFill>
                  <a:srgbClr val="7030A0"/>
                </a:solidFill>
              </a:rPr>
              <a:t>Godaddy</a:t>
            </a:r>
            <a:r>
              <a:rPr lang="en-US" sz="2400" b="1" dirty="0" smtClean="0">
                <a:solidFill>
                  <a:srgbClr val="7030A0"/>
                </a:solidFill>
              </a:rPr>
              <a:t>: </a:t>
            </a:r>
            <a:r>
              <a:rPr lang="en-US" sz="2400" b="1" dirty="0">
                <a:solidFill>
                  <a:srgbClr val="7030A0"/>
                </a:solidFill>
              </a:rPr>
              <a:t>Getting Free Domain Name Use Route 53 To Route Traffic To ELB AWS ELB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Weighted </a:t>
            </a:r>
            <a:r>
              <a:rPr lang="en-US" sz="2400" b="1" dirty="0">
                <a:solidFill>
                  <a:srgbClr val="7030A0"/>
                </a:solidFill>
              </a:rPr>
              <a:t>Routing</a:t>
            </a:r>
          </a:p>
          <a:p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259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9800" y="0"/>
            <a:ext cx="6172200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3800" b="1" dirty="0" smtClean="0">
                <a:solidFill>
                  <a:srgbClr val="FF0000"/>
                </a:solidFill>
              </a:rPr>
              <a:t>Module-9- Simple Storage Service (S3)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800" b="1" dirty="0" smtClean="0">
                <a:solidFill>
                  <a:srgbClr val="7030A0"/>
                </a:solidFill>
              </a:rPr>
              <a:t>Pre-S3</a:t>
            </a:r>
            <a:r>
              <a:rPr lang="en-US" sz="3800" b="1" dirty="0">
                <a:solidFill>
                  <a:srgbClr val="7030A0"/>
                </a:solidFill>
              </a:rPr>
              <a:t>: Online Cloud Storage </a:t>
            </a:r>
            <a:r>
              <a:rPr lang="en-US" sz="3800" b="1" dirty="0" smtClean="0">
                <a:solidFill>
                  <a:srgbClr val="7030A0"/>
                </a:solidFill>
              </a:rPr>
              <a:t>Introduction</a:t>
            </a:r>
            <a:endParaRPr lang="en-US" sz="3800" b="1" dirty="0">
              <a:solidFill>
                <a:srgbClr val="7030A0"/>
              </a:solidFill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3800" b="1" dirty="0">
                <a:solidFill>
                  <a:srgbClr val="7030A0"/>
                </a:solidFill>
              </a:rPr>
              <a:t>Understanding Examples and Creating S3 Bucket Storage Hierarchy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800" b="1" dirty="0">
                <a:solidFill>
                  <a:srgbClr val="7030A0"/>
                </a:solidFill>
              </a:rPr>
              <a:t>Objects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800" b="1" dirty="0">
                <a:solidFill>
                  <a:srgbClr val="7030A0"/>
                </a:solidFill>
              </a:rPr>
              <a:t>Lifecycle Management and Storage Classes Storage Class Analysis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800" b="1" dirty="0">
                <a:solidFill>
                  <a:srgbClr val="7030A0"/>
                </a:solidFill>
              </a:rPr>
              <a:t>Cross-Region Replication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800" b="1" dirty="0">
                <a:solidFill>
                  <a:srgbClr val="7030A0"/>
                </a:solidFill>
              </a:rPr>
              <a:t>Data Encryption and Server Access Logging Website Hosting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800" b="1" dirty="0">
                <a:solidFill>
                  <a:srgbClr val="7030A0"/>
                </a:solidFill>
              </a:rPr>
              <a:t>S3 Access Point and Connecting Using VPC Endpoint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/>
            </a:r>
            <a:br>
              <a:rPr lang="en-US" b="1" dirty="0">
                <a:solidFill>
                  <a:srgbClr val="7030A0"/>
                </a:solidFill>
              </a:rPr>
            </a:b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550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800" b="1" dirty="0">
                <a:solidFill>
                  <a:srgbClr val="FF0000"/>
                </a:solidFill>
              </a:rPr>
              <a:t>Module-8-Virtual Private Cloud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800" b="1" dirty="0">
                <a:solidFill>
                  <a:srgbClr val="7030A0"/>
                </a:solidFill>
              </a:rPr>
              <a:t>Amazon VPC Overview and IP Address </a:t>
            </a:r>
            <a:endParaRPr lang="en-US" sz="38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800" b="1" dirty="0" smtClean="0">
                <a:solidFill>
                  <a:srgbClr val="7030A0"/>
                </a:solidFill>
              </a:rPr>
              <a:t>CIDR </a:t>
            </a:r>
            <a:r>
              <a:rPr lang="en-US" sz="3800" b="1" dirty="0">
                <a:solidFill>
                  <a:srgbClr val="7030A0"/>
                </a:solidFill>
              </a:rPr>
              <a:t>Notations </a:t>
            </a:r>
            <a:endParaRPr lang="en-US" sz="38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800" b="1" dirty="0" smtClean="0">
                <a:solidFill>
                  <a:srgbClr val="7030A0"/>
                </a:solidFill>
              </a:rPr>
              <a:t>Creation </a:t>
            </a:r>
            <a:r>
              <a:rPr lang="en-US" sz="3800" b="1" dirty="0">
                <a:solidFill>
                  <a:srgbClr val="7030A0"/>
                </a:solidFill>
              </a:rPr>
              <a:t>of VPC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800" b="1" dirty="0">
                <a:solidFill>
                  <a:srgbClr val="7030A0"/>
                </a:solidFill>
              </a:rPr>
              <a:t>Components Of VPC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800" b="1" dirty="0" smtClean="0">
                <a:solidFill>
                  <a:srgbClr val="7030A0"/>
                </a:solidFill>
              </a:rPr>
              <a:t>Create Internet </a:t>
            </a:r>
            <a:r>
              <a:rPr lang="en-US" sz="3800" b="1" dirty="0">
                <a:solidFill>
                  <a:srgbClr val="7030A0"/>
                </a:solidFill>
              </a:rPr>
              <a:t>Gateways and NAT Gateways Types Of VPC And Subnet Overview Security In VPC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800" b="1" dirty="0">
                <a:solidFill>
                  <a:srgbClr val="7030A0"/>
                </a:solidFill>
              </a:rPr>
              <a:t>Creation of NAT Gateway VPC Architecture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800" b="1" dirty="0">
                <a:solidFill>
                  <a:srgbClr val="7030A0"/>
                </a:solidFill>
              </a:rPr>
              <a:t>VPC Peering and VPC Endpoints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128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  <a:solidFill>
            <a:srgbClr val="CDDEFF"/>
          </a:solidFill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9600" b="1" i="1" dirty="0">
                <a:solidFill>
                  <a:srgbClr val="FF0000"/>
                </a:solidFill>
              </a:rPr>
              <a:t>Module-10- Relational Data Service</a:t>
            </a:r>
            <a:endParaRPr lang="en-US" sz="9600" dirty="0">
              <a:solidFill>
                <a:srgbClr val="FF0000"/>
              </a:solidFill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7200" b="1" i="1" dirty="0"/>
              <a:t> </a:t>
            </a:r>
            <a:r>
              <a:rPr lang="en-US" sz="9600" b="1" i="1" dirty="0"/>
              <a:t> </a:t>
            </a:r>
            <a:r>
              <a:rPr lang="en-US" sz="9600" b="1" dirty="0" smtClean="0">
                <a:solidFill>
                  <a:srgbClr val="7030A0"/>
                </a:solidFill>
              </a:rPr>
              <a:t>Introduction </a:t>
            </a:r>
            <a:r>
              <a:rPr lang="en-US" sz="9600" b="1" dirty="0">
                <a:solidFill>
                  <a:srgbClr val="7030A0"/>
                </a:solidFill>
              </a:rPr>
              <a:t>To RDS Features Of </a:t>
            </a:r>
            <a:r>
              <a:rPr lang="en-US" sz="9600" b="1" dirty="0" smtClean="0">
                <a:solidFill>
                  <a:srgbClr val="7030A0"/>
                </a:solidFill>
              </a:rPr>
              <a:t>Amazon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9600" b="1" dirty="0" smtClean="0">
                <a:solidFill>
                  <a:srgbClr val="7030A0"/>
                </a:solidFill>
              </a:rPr>
              <a:t> </a:t>
            </a:r>
            <a:r>
              <a:rPr lang="en-US" sz="9600" b="1" dirty="0">
                <a:solidFill>
                  <a:srgbClr val="7030A0"/>
                </a:solidFill>
              </a:rPr>
              <a:t>RDS Read Replica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9600" b="1" dirty="0">
                <a:solidFill>
                  <a:srgbClr val="7030A0"/>
                </a:solidFill>
              </a:rPr>
              <a:t>Reserved DB Instances, Pricing and Designs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9600" b="1" dirty="0" smtClean="0">
                <a:solidFill>
                  <a:srgbClr val="7030A0"/>
                </a:solidFill>
              </a:rPr>
              <a:t>Introduction </a:t>
            </a:r>
            <a:r>
              <a:rPr lang="en-US" sz="9600" b="1" dirty="0">
                <a:solidFill>
                  <a:srgbClr val="7030A0"/>
                </a:solidFill>
              </a:rPr>
              <a:t>To DynamoDB </a:t>
            </a:r>
            <a:endParaRPr lang="en-US" sz="96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9600" b="1" dirty="0" smtClean="0">
                <a:solidFill>
                  <a:srgbClr val="7030A0"/>
                </a:solidFill>
              </a:rPr>
              <a:t>Core </a:t>
            </a:r>
            <a:r>
              <a:rPr lang="en-US" sz="9600" b="1" dirty="0">
                <a:solidFill>
                  <a:srgbClr val="7030A0"/>
                </a:solidFill>
              </a:rPr>
              <a:t>Components of DynamoDB </a:t>
            </a:r>
            <a:endParaRPr lang="en-US" sz="96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9600" b="1" dirty="0" smtClean="0">
                <a:solidFill>
                  <a:srgbClr val="7030A0"/>
                </a:solidFill>
              </a:rPr>
              <a:t>Primary </a:t>
            </a:r>
            <a:r>
              <a:rPr lang="en-US" sz="9600" b="1" dirty="0">
                <a:solidFill>
                  <a:srgbClr val="7030A0"/>
                </a:solidFill>
              </a:rPr>
              <a:t>Key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9600" b="1" dirty="0">
                <a:solidFill>
                  <a:srgbClr val="7030A0"/>
                </a:solidFill>
              </a:rPr>
              <a:t>Secondary Indexes DynamoDB Streams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9600" b="1" dirty="0">
                <a:solidFill>
                  <a:srgbClr val="7030A0"/>
                </a:solidFill>
              </a:rPr>
              <a:t>DynamoDB Pricing and Designs </a:t>
            </a:r>
            <a:endParaRPr lang="en-US" sz="96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9600" b="1" dirty="0" smtClean="0">
                <a:solidFill>
                  <a:srgbClr val="7030A0"/>
                </a:solidFill>
              </a:rPr>
              <a:t>DynamoDB </a:t>
            </a:r>
            <a:r>
              <a:rPr lang="en-US" sz="9600" b="1" dirty="0">
                <a:solidFill>
                  <a:srgbClr val="7030A0"/>
                </a:solidFill>
              </a:rPr>
              <a:t>Table and Operations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7030A0"/>
                </a:solidFill>
              </a:rPr>
              <a:t> </a:t>
            </a:r>
          </a:p>
          <a:p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6019800" y="0"/>
            <a:ext cx="6172200" cy="6858000"/>
          </a:xfrm>
          <a:solidFill>
            <a:srgbClr val="FFFFC9"/>
          </a:solidFill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Module-11- Identity Access Management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Introduction To IAM Amazon Resource Names IAM Features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Multi-Factor Authentication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IAM Users and Groups IAM Policies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IAM Permissions IAM Roles</a:t>
            </a:r>
          </a:p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spc="-10" dirty="0" smtClean="0">
              <a:solidFill>
                <a:srgbClr val="FF0000"/>
              </a:solidFill>
              <a:effectLst/>
              <a:latin typeface="Calibri Light" panose="020F03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spc="-10" dirty="0" smtClean="0">
              <a:solidFill>
                <a:srgbClr val="FF0000"/>
              </a:solidFill>
              <a:effectLst/>
              <a:latin typeface="Calibri Light" panose="020F03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10" dirty="0" smtClean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Module-12</a:t>
            </a:r>
            <a:r>
              <a:rPr lang="en-US" sz="2400" b="1" spc="-1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2400" b="1" spc="-55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10" dirty="0" smtClean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CloudWatch</a:t>
            </a:r>
            <a:endParaRPr lang="en-US" sz="2400" b="1" dirty="0" smtClean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Introduction To CloudWatch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CloudWatch Metrics and Namespaces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CloudWatch </a:t>
            </a:r>
            <a:r>
              <a:rPr lang="en-US" sz="2400" b="1" dirty="0" smtClean="0">
                <a:solidFill>
                  <a:srgbClr val="7030A0"/>
                </a:solidFill>
              </a:rPr>
              <a:t>Alarms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CloudWatch Logs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CloudWatch Architecture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19800" y="3601328"/>
            <a:ext cx="6172200" cy="32566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1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E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Module-13- Simple Notification Service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Introduction of SNS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Create A SNS</a:t>
            </a:r>
          </a:p>
          <a:p>
            <a:pPr algn="ctr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Module-14- Simple Email Service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Introduction of SES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Create A SES</a:t>
            </a:r>
          </a:p>
          <a:p>
            <a:pPr algn="ctr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Module-15- Simple Queue Service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Introduction of SQS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Create A SQS</a:t>
            </a:r>
          </a:p>
          <a:p>
            <a:pPr>
              <a:lnSpc>
                <a:spcPct val="150000"/>
              </a:lnSpc>
            </a:pPr>
            <a:endParaRPr lang="en-US" sz="2400" b="1" dirty="0" smtClean="0">
              <a:solidFill>
                <a:srgbClr val="7030A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Module-16-Project</a:t>
            </a: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778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875764"/>
            <a:ext cx="5589431" cy="3116687"/>
          </a:xfrm>
          <a:prstGeom prst="rect">
            <a:avLst/>
          </a:prstGeom>
          <a:gradFill>
            <a:gsLst>
              <a:gs pos="0">
                <a:srgbClr val="0070C0"/>
              </a:gs>
              <a:gs pos="74000">
                <a:schemeClr val="accent1">
                  <a:lumMod val="45000"/>
                  <a:lumOff val="55000"/>
                </a:schemeClr>
              </a:gs>
              <a:gs pos="10608">
                <a:srgbClr val="FFC000"/>
              </a:gs>
              <a:gs pos="52000">
                <a:srgbClr val="92D05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0" marR="0">
              <a:lnSpc>
                <a:spcPct val="150000"/>
              </a:lnSpc>
              <a:spcBef>
                <a:spcPts val="645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FF0000"/>
                </a:solidFill>
                <a:ea typeface="Calibri" panose="020F0502020204030204" pitchFamily="34" charset="0"/>
              </a:rPr>
              <a:t>Module-1-Linux</a:t>
            </a:r>
          </a:p>
          <a:p>
            <a:pPr marL="635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7030A0"/>
                </a:solidFill>
                <a:ea typeface="Calibri" panose="020F0502020204030204" pitchFamily="34" charset="0"/>
              </a:rPr>
              <a:t>Creating the files</a:t>
            </a:r>
          </a:p>
          <a:p>
            <a:pPr marL="635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7030A0"/>
                </a:solidFill>
                <a:ea typeface="Calibri" panose="020F0502020204030204" pitchFamily="34" charset="0"/>
              </a:rPr>
              <a:t>Provide permissions </a:t>
            </a:r>
          </a:p>
          <a:p>
            <a:pPr marL="635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7030A0"/>
                </a:solidFill>
                <a:ea typeface="Calibri" panose="020F0502020204030204" pitchFamily="34" charset="0"/>
              </a:rPr>
              <a:t>Umask</a:t>
            </a:r>
            <a:endParaRPr lang="en-US" sz="2400" b="1" dirty="0">
              <a:solidFill>
                <a:srgbClr val="7030A0"/>
              </a:solidFill>
              <a:ea typeface="Calibri" panose="020F0502020204030204" pitchFamily="34" charset="0"/>
            </a:endParaRPr>
          </a:p>
          <a:p>
            <a:pPr marL="635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7030A0"/>
                </a:solidFill>
                <a:ea typeface="Calibri" panose="020F0502020204030204" pitchFamily="34" charset="0"/>
              </a:rPr>
              <a:t>Connect local machine to virtual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8757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766603" y="145494"/>
            <a:ext cx="26587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Devops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4014903"/>
            <a:ext cx="5589431" cy="2843097"/>
          </a:xfrm>
          <a:prstGeom prst="rect">
            <a:avLst/>
          </a:prstGeom>
          <a:gradFill>
            <a:gsLst>
              <a:gs pos="0">
                <a:srgbClr val="0070C0"/>
              </a:gs>
              <a:gs pos="74000">
                <a:schemeClr val="accent1">
                  <a:lumMod val="45000"/>
                  <a:lumOff val="55000"/>
                </a:schemeClr>
              </a:gs>
              <a:gs pos="10608">
                <a:srgbClr val="FFC000"/>
              </a:gs>
              <a:gs pos="52000">
                <a:srgbClr val="92D05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0" marR="0">
              <a:lnSpc>
                <a:spcPct val="150000"/>
              </a:lnSpc>
              <a:spcBef>
                <a:spcPts val="645"/>
              </a:spcBef>
              <a:spcAft>
                <a:spcPts val="0"/>
              </a:spcAft>
            </a:pPr>
            <a:endParaRPr lang="en-US" sz="2400" b="1" dirty="0" smtClean="0">
              <a:solidFill>
                <a:srgbClr val="FF0000"/>
              </a:solidFill>
              <a:ea typeface="Calibri" panose="020F0502020204030204" pitchFamily="34" charset="0"/>
            </a:endParaRPr>
          </a:p>
          <a:p>
            <a:pPr marL="63500" marR="0">
              <a:lnSpc>
                <a:spcPct val="150000"/>
              </a:lnSpc>
              <a:spcBef>
                <a:spcPts val="645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FF0000"/>
                </a:solidFill>
                <a:ea typeface="Calibri" panose="020F0502020204030204" pitchFamily="34" charset="0"/>
              </a:rPr>
              <a:t>Module-2 Introduction to Devops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7030A0"/>
                </a:solidFill>
              </a:rPr>
              <a:t>Software Development Lifecycle Waterfall Models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7030A0"/>
                </a:solidFill>
              </a:rPr>
              <a:t>Agile Model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7030A0"/>
                </a:solidFill>
              </a:rPr>
              <a:t>Introduction to DevOps Tool</a:t>
            </a:r>
          </a:p>
          <a:p>
            <a:pPr marL="63500" marR="0">
              <a:lnSpc>
                <a:spcPct val="150000"/>
              </a:lnSpc>
              <a:spcBef>
                <a:spcPts val="645"/>
              </a:spcBef>
              <a:spcAft>
                <a:spcPts val="0"/>
              </a:spcAft>
            </a:pPr>
            <a:endParaRPr lang="en-US" sz="2400" b="1" dirty="0">
              <a:solidFill>
                <a:srgbClr val="FF0000"/>
              </a:solidFill>
              <a:ea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589431" y="875764"/>
            <a:ext cx="6602569" cy="5982236"/>
          </a:xfrm>
          <a:prstGeom prst="rect">
            <a:avLst/>
          </a:prstGeom>
          <a:gradFill>
            <a:gsLst>
              <a:gs pos="30118">
                <a:srgbClr val="AACDD4"/>
              </a:gs>
              <a:gs pos="0">
                <a:schemeClr val="bg2"/>
              </a:gs>
              <a:gs pos="74000">
                <a:schemeClr val="accent1">
                  <a:lumMod val="45000"/>
                  <a:lumOff val="55000"/>
                </a:schemeClr>
              </a:gs>
              <a:gs pos="41000">
                <a:schemeClr val="accent2">
                  <a:lumMod val="40000"/>
                  <a:lumOff val="6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589431" y="875763"/>
            <a:ext cx="6602569" cy="6001643"/>
          </a:xfrm>
          <a:prstGeom prst="rect">
            <a:avLst/>
          </a:prstGeom>
          <a:gradFill>
            <a:gsLst>
              <a:gs pos="34000">
                <a:srgbClr val="92D050"/>
              </a:gs>
              <a:gs pos="0">
                <a:srgbClr val="FFC000"/>
              </a:gs>
              <a:gs pos="74000">
                <a:schemeClr val="accent1">
                  <a:lumMod val="45000"/>
                  <a:lumOff val="55000"/>
                </a:schemeClr>
              </a:gs>
              <a:gs pos="52000">
                <a:srgbClr val="00B05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endParaRPr lang="en-US" sz="2400" b="1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Module-3- </a:t>
            </a:r>
            <a:r>
              <a:rPr lang="en-US" sz="2400" b="1" dirty="0">
                <a:solidFill>
                  <a:srgbClr val="FF0000"/>
                </a:solidFill>
              </a:rPr>
              <a:t>Version Control With </a:t>
            </a:r>
            <a:r>
              <a:rPr lang="en-US" sz="2400" b="1" dirty="0" err="1" smtClean="0">
                <a:solidFill>
                  <a:srgbClr val="FF0000"/>
                </a:solidFill>
              </a:rPr>
              <a:t>Git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endParaRPr lang="en-US" sz="2400" dirty="0"/>
          </a:p>
          <a:p>
            <a:r>
              <a:rPr lang="en-US" sz="2400" dirty="0"/>
              <a:t>What Is Version Control System? </a:t>
            </a:r>
            <a:endParaRPr lang="en-US" sz="2400" dirty="0" smtClean="0"/>
          </a:p>
          <a:p>
            <a:r>
              <a:rPr lang="en-US" sz="2400" dirty="0" smtClean="0"/>
              <a:t>Types </a:t>
            </a:r>
            <a:r>
              <a:rPr lang="en-US" sz="2400" dirty="0"/>
              <a:t>Of Version Control System </a:t>
            </a:r>
            <a:endParaRPr lang="en-US" sz="2400" dirty="0" smtClean="0"/>
          </a:p>
          <a:p>
            <a:r>
              <a:rPr lang="en-US" sz="2400" dirty="0" smtClean="0"/>
              <a:t>Introduction </a:t>
            </a:r>
            <a:r>
              <a:rPr lang="en-US" sz="2400" dirty="0"/>
              <a:t>To </a:t>
            </a:r>
            <a:r>
              <a:rPr lang="en-US" sz="2400" dirty="0" err="1"/>
              <a:t>Git</a:t>
            </a:r>
            <a:endParaRPr lang="en-US" sz="2400" dirty="0"/>
          </a:p>
          <a:p>
            <a:r>
              <a:rPr lang="en-US" sz="2400" dirty="0" err="1"/>
              <a:t>Git</a:t>
            </a:r>
            <a:r>
              <a:rPr lang="en-US" sz="2400" dirty="0"/>
              <a:t> Lifecycle And How </a:t>
            </a:r>
            <a:r>
              <a:rPr lang="en-US" sz="2400" dirty="0" err="1"/>
              <a:t>Git</a:t>
            </a:r>
            <a:r>
              <a:rPr lang="en-US" sz="2400" dirty="0"/>
              <a:t> Works? </a:t>
            </a:r>
            <a:endParaRPr lang="en-US" sz="2400" dirty="0" smtClean="0"/>
          </a:p>
          <a:p>
            <a:r>
              <a:rPr lang="en-US" sz="2400" dirty="0" smtClean="0"/>
              <a:t>Common </a:t>
            </a:r>
            <a:r>
              <a:rPr lang="en-US" sz="2400" dirty="0" err="1"/>
              <a:t>Git</a:t>
            </a:r>
            <a:r>
              <a:rPr lang="en-US" sz="2400" dirty="0"/>
              <a:t> Commands</a:t>
            </a:r>
          </a:p>
          <a:p>
            <a:r>
              <a:rPr lang="en-US" sz="2400" dirty="0"/>
              <a:t>Merging Branches </a:t>
            </a:r>
          </a:p>
          <a:p>
            <a:r>
              <a:rPr lang="en-US" sz="2400" dirty="0"/>
              <a:t>Merge Conflicts </a:t>
            </a:r>
            <a:r>
              <a:rPr lang="en-US" sz="2400" dirty="0" err="1"/>
              <a:t>Git</a:t>
            </a:r>
            <a:r>
              <a:rPr lang="en-US" sz="2400" dirty="0"/>
              <a:t> Workflow</a:t>
            </a:r>
          </a:p>
          <a:p>
            <a:r>
              <a:rPr lang="en-US" sz="2400" dirty="0"/>
              <a:t>Forking In </a:t>
            </a:r>
            <a:r>
              <a:rPr lang="en-US" sz="2400" dirty="0" smtClean="0"/>
              <a:t>GitHub</a:t>
            </a:r>
          </a:p>
          <a:p>
            <a:r>
              <a:rPr lang="en-US" sz="2400" dirty="0" err="1" smtClean="0"/>
              <a:t>Git</a:t>
            </a:r>
            <a:r>
              <a:rPr lang="en-US" sz="2400" dirty="0" smtClean="0"/>
              <a:t> clone</a:t>
            </a:r>
          </a:p>
          <a:p>
            <a:r>
              <a:rPr lang="en-US" sz="2400" dirty="0" err="1" smtClean="0"/>
              <a:t>Git</a:t>
            </a:r>
            <a:r>
              <a:rPr lang="en-US" sz="2400" dirty="0" smtClean="0"/>
              <a:t> stash</a:t>
            </a:r>
          </a:p>
          <a:p>
            <a:r>
              <a:rPr lang="en-US" sz="2400" dirty="0" err="1" smtClean="0"/>
              <a:t>Git</a:t>
            </a:r>
            <a:r>
              <a:rPr lang="en-US" sz="2400" dirty="0" smtClean="0"/>
              <a:t> Hub connection loss</a:t>
            </a:r>
          </a:p>
          <a:p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902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183188" cy="3615397"/>
          </a:xfrm>
          <a:gradFill>
            <a:gsLst>
              <a:gs pos="33646">
                <a:srgbClr val="92D050"/>
              </a:gs>
              <a:gs pos="48692">
                <a:srgbClr val="C6D9EA"/>
              </a:gs>
              <a:gs pos="0">
                <a:schemeClr val="bg2"/>
              </a:gs>
              <a:gs pos="18573">
                <a:schemeClr val="bg2">
                  <a:lumMod val="75000"/>
                </a:schemeClr>
              </a:gs>
              <a:gs pos="74000">
                <a:schemeClr val="accent2">
                  <a:lumMod val="20000"/>
                  <a:lumOff val="80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+mn-lt"/>
              </a:rPr>
              <a:t/>
            </a:r>
            <a:br>
              <a:rPr lang="en-US" sz="2400" b="1" dirty="0" smtClean="0">
                <a:latin typeface="+mn-lt"/>
              </a:rPr>
            </a:br>
            <a:r>
              <a:rPr lang="en-US" sz="2400" b="1" dirty="0">
                <a:latin typeface="+mn-lt"/>
              </a:rPr>
              <a:t/>
            </a:r>
            <a:br>
              <a:rPr lang="en-US" sz="2400" b="1" dirty="0">
                <a:latin typeface="+mn-lt"/>
              </a:rPr>
            </a:br>
            <a:r>
              <a:rPr lang="en-US" sz="2400" b="1" dirty="0" smtClean="0">
                <a:latin typeface="+mn-lt"/>
              </a:rPr>
              <a:t/>
            </a:r>
            <a:br>
              <a:rPr lang="en-US" sz="2400" b="1" dirty="0" smtClean="0">
                <a:latin typeface="+mn-lt"/>
              </a:rPr>
            </a:br>
            <a:r>
              <a:rPr lang="en-US" sz="2400" b="1" dirty="0">
                <a:latin typeface="+mn-lt"/>
              </a:rPr>
              <a:t/>
            </a:r>
            <a:br>
              <a:rPr lang="en-US" sz="2400" b="1" dirty="0">
                <a:latin typeface="+mn-lt"/>
              </a:rPr>
            </a:br>
            <a:r>
              <a:rPr lang="en-US" sz="2400" b="1" dirty="0" smtClean="0">
                <a:latin typeface="+mn-lt"/>
              </a:rPr>
              <a:t/>
            </a:r>
            <a:br>
              <a:rPr lang="en-US" sz="2400" b="1" dirty="0" smtClean="0">
                <a:latin typeface="+mn-lt"/>
              </a:rPr>
            </a:br>
            <a:r>
              <a:rPr lang="en-US" sz="2400" b="1" dirty="0">
                <a:latin typeface="+mn-lt"/>
              </a:rPr>
              <a:t/>
            </a:r>
            <a:br>
              <a:rPr lang="en-US" sz="2400" b="1" dirty="0">
                <a:latin typeface="+mn-lt"/>
              </a:rPr>
            </a:br>
            <a:r>
              <a:rPr lang="en-US" sz="2400" b="1" dirty="0" smtClean="0">
                <a:latin typeface="+mn-lt"/>
              </a:rPr>
              <a:t>                      </a:t>
            </a:r>
            <a:r>
              <a:rPr lang="en-US" sz="2400" b="1" dirty="0" smtClean="0">
                <a:solidFill>
                  <a:srgbClr val="FF0000"/>
                </a:solidFill>
                <a:latin typeface="+mn-lt"/>
              </a:rPr>
              <a:t>Module-4-Maven</a:t>
            </a:r>
            <a:r>
              <a:rPr lang="en-US" sz="2400" b="1" dirty="0">
                <a:solidFill>
                  <a:srgbClr val="7030A0"/>
                </a:solidFill>
                <a:latin typeface="+mn-lt"/>
              </a:rPr>
              <a:t/>
            </a:r>
            <a:br>
              <a:rPr lang="en-US" sz="2400" b="1" dirty="0">
                <a:solidFill>
                  <a:srgbClr val="7030A0"/>
                </a:solidFill>
                <a:latin typeface="+mn-lt"/>
              </a:rPr>
            </a:br>
            <a:r>
              <a:rPr lang="en-US" sz="2400" b="1" dirty="0">
                <a:solidFill>
                  <a:srgbClr val="7030A0"/>
                </a:solidFill>
                <a:latin typeface="+mn-lt"/>
              </a:rPr>
              <a:t>Why Maven</a:t>
            </a:r>
            <a:r>
              <a:rPr lang="en-US" sz="2400" b="1" dirty="0" smtClean="0">
                <a:solidFill>
                  <a:srgbClr val="7030A0"/>
                </a:solidFill>
                <a:latin typeface="+mn-lt"/>
              </a:rPr>
              <a:t>?</a:t>
            </a:r>
            <a:r>
              <a:rPr lang="en-US" sz="2400" b="1" dirty="0">
                <a:solidFill>
                  <a:srgbClr val="7030A0"/>
                </a:solidFill>
                <a:latin typeface="+mn-lt"/>
              </a:rPr>
              <a:t/>
            </a:r>
            <a:br>
              <a:rPr lang="en-US" sz="2400" b="1" dirty="0">
                <a:solidFill>
                  <a:srgbClr val="7030A0"/>
                </a:solidFill>
                <a:latin typeface="+mn-lt"/>
              </a:rPr>
            </a:br>
            <a:r>
              <a:rPr lang="en-US" sz="2400" b="1" dirty="0">
                <a:solidFill>
                  <a:srgbClr val="7030A0"/>
                </a:solidFill>
                <a:latin typeface="+mn-lt"/>
              </a:rPr>
              <a:t>What Is Maven?</a:t>
            </a:r>
            <a:br>
              <a:rPr lang="en-US" sz="2400" b="1" dirty="0">
                <a:solidFill>
                  <a:srgbClr val="7030A0"/>
                </a:solidFill>
                <a:latin typeface="+mn-lt"/>
              </a:rPr>
            </a:br>
            <a:r>
              <a:rPr lang="en-US" sz="2400" b="1" dirty="0">
                <a:solidFill>
                  <a:srgbClr val="7030A0"/>
                </a:solidFill>
                <a:latin typeface="+mn-lt"/>
              </a:rPr>
              <a:t>What Does Maven Do? </a:t>
            </a:r>
            <a:br>
              <a:rPr lang="en-US" sz="2400" b="1" dirty="0">
                <a:solidFill>
                  <a:srgbClr val="7030A0"/>
                </a:solidFill>
                <a:latin typeface="+mn-lt"/>
              </a:rPr>
            </a:br>
            <a:r>
              <a:rPr lang="en-US" sz="2400" b="1" dirty="0">
                <a:solidFill>
                  <a:srgbClr val="7030A0"/>
                </a:solidFill>
                <a:latin typeface="+mn-lt"/>
              </a:rPr>
              <a:t>Building POM Files </a:t>
            </a:r>
            <a:br>
              <a:rPr lang="en-US" sz="2400" b="1" dirty="0">
                <a:solidFill>
                  <a:srgbClr val="7030A0"/>
                </a:solidFill>
                <a:latin typeface="+mn-lt"/>
              </a:rPr>
            </a:br>
            <a:r>
              <a:rPr lang="en-US" sz="2400" b="1" dirty="0">
                <a:solidFill>
                  <a:srgbClr val="7030A0"/>
                </a:solidFill>
                <a:latin typeface="+mn-lt"/>
              </a:rPr>
              <a:t>Maven Repositories </a:t>
            </a:r>
            <a:br>
              <a:rPr lang="en-US" sz="2400" b="1" dirty="0">
                <a:solidFill>
                  <a:srgbClr val="7030A0"/>
                </a:solidFill>
                <a:latin typeface="+mn-lt"/>
              </a:rPr>
            </a:br>
            <a:r>
              <a:rPr lang="en-US" sz="2400" b="1" dirty="0">
                <a:solidFill>
                  <a:srgbClr val="7030A0"/>
                </a:solidFill>
                <a:latin typeface="+mn-lt"/>
              </a:rPr>
              <a:t>Maven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0"/>
            <a:ext cx="7008812" cy="6857999"/>
          </a:xfrm>
          <a:gradFill>
            <a:gsLst>
              <a:gs pos="13000">
                <a:srgbClr val="FFD9FF"/>
              </a:gs>
              <a:gs pos="48692">
                <a:srgbClr val="C6D9EA"/>
              </a:gs>
              <a:gs pos="65000">
                <a:srgbClr val="FFFF66"/>
              </a:gs>
              <a:gs pos="0">
                <a:srgbClr val="92D050"/>
              </a:gs>
              <a:gs pos="18573">
                <a:schemeClr val="bg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Module-5- CI/CD With </a:t>
            </a:r>
            <a:r>
              <a:rPr lang="en-US" sz="2400" b="1" dirty="0">
                <a:solidFill>
                  <a:srgbClr val="FF0000"/>
                </a:solidFill>
              </a:rPr>
              <a:t>Jenkins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Introduction To Continuous Integration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What Is Jenkins?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Installing Jenkins On AWS Jenkins Installation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Jenkins Architecture Managing Nodes On Jenkins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Jenkins Master Node Connection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Jenkins Integration With DevOps Tools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Understanding CI/CD Pipelines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Creating A CI/CD Pipeline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Jenkins Upgration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3615397"/>
            <a:ext cx="5183188" cy="3411414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9600" b="1" dirty="0" smtClean="0">
                <a:solidFill>
                  <a:srgbClr val="FF0000"/>
                </a:solidFill>
              </a:rPr>
              <a:t>                  Module 6 – </a:t>
            </a:r>
            <a:r>
              <a:rPr lang="en-US" sz="9600" b="1" dirty="0" err="1" smtClean="0">
                <a:solidFill>
                  <a:srgbClr val="FF0000"/>
                </a:solidFill>
              </a:rPr>
              <a:t>Sonarqube</a:t>
            </a:r>
            <a:endParaRPr lang="en-US" sz="96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9600" b="1" dirty="0" smtClean="0">
                <a:solidFill>
                  <a:srgbClr val="7030A0"/>
                </a:solidFill>
              </a:rPr>
              <a:t>What Is Software Testing? </a:t>
            </a:r>
          </a:p>
          <a:p>
            <a:pPr>
              <a:lnSpc>
                <a:spcPct val="120000"/>
              </a:lnSpc>
            </a:pPr>
            <a:r>
              <a:rPr lang="en-US" sz="9600" b="1" dirty="0" smtClean="0">
                <a:solidFill>
                  <a:srgbClr val="7030A0"/>
                </a:solidFill>
              </a:rPr>
              <a:t>What Is </a:t>
            </a:r>
            <a:r>
              <a:rPr lang="en-US" sz="9600" b="1" dirty="0" err="1" smtClean="0">
                <a:solidFill>
                  <a:srgbClr val="7030A0"/>
                </a:solidFill>
              </a:rPr>
              <a:t>SonarQube</a:t>
            </a:r>
            <a:r>
              <a:rPr lang="en-US" sz="9600" b="1" dirty="0" smtClean="0">
                <a:solidFill>
                  <a:srgbClr val="7030A0"/>
                </a:solidFill>
              </a:rPr>
              <a:t>? </a:t>
            </a:r>
          </a:p>
          <a:p>
            <a:pPr>
              <a:lnSpc>
                <a:spcPct val="120000"/>
              </a:lnSpc>
            </a:pPr>
            <a:r>
              <a:rPr lang="en-US" sz="9600" b="1" dirty="0" smtClean="0">
                <a:solidFill>
                  <a:srgbClr val="7030A0"/>
                </a:solidFill>
              </a:rPr>
              <a:t>Features Of </a:t>
            </a:r>
            <a:r>
              <a:rPr lang="en-US" sz="9600" b="1" dirty="0" err="1" smtClean="0">
                <a:solidFill>
                  <a:srgbClr val="7030A0"/>
                </a:solidFill>
              </a:rPr>
              <a:t>SonarQube</a:t>
            </a:r>
            <a:r>
              <a:rPr lang="en-US" sz="9600" b="1" dirty="0" smtClean="0">
                <a:solidFill>
                  <a:srgbClr val="7030A0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9600" b="1" dirty="0" err="1" smtClean="0">
                <a:solidFill>
                  <a:srgbClr val="7030A0"/>
                </a:solidFill>
              </a:rPr>
              <a:t>SonarQube</a:t>
            </a:r>
            <a:r>
              <a:rPr lang="en-US" sz="9600" b="1" dirty="0" smtClean="0">
                <a:solidFill>
                  <a:srgbClr val="7030A0"/>
                </a:solidFill>
              </a:rPr>
              <a:t> Installation</a:t>
            </a:r>
          </a:p>
          <a:p>
            <a:pPr>
              <a:lnSpc>
                <a:spcPct val="120000"/>
              </a:lnSpc>
            </a:pPr>
            <a:r>
              <a:rPr lang="en-US" sz="9600" b="1" dirty="0" smtClean="0">
                <a:solidFill>
                  <a:srgbClr val="7030A0"/>
                </a:solidFill>
              </a:rPr>
              <a:t>Code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550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872197"/>
            <a:ext cx="6189785" cy="59858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189786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000" b="1" dirty="0" smtClean="0">
              <a:solidFill>
                <a:srgbClr val="FF0000"/>
              </a:solidFill>
            </a:endParaRPr>
          </a:p>
          <a:p>
            <a:pPr algn="ctr"/>
            <a:endParaRPr lang="en-US" sz="2000" b="1" dirty="0">
              <a:solidFill>
                <a:srgbClr val="FF0000"/>
              </a:solidFill>
            </a:endParaRP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                                                         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Why Docker?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What Is Docker?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Docker Installation Docker Lifecycle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Common Docker Operations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Creating A Docker Hub Account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Container Pushing To Docker Hub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Introduction To Dockerfile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Docker Storage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Linking Docker Containers</a:t>
            </a:r>
          </a:p>
          <a:p>
            <a:pPr>
              <a:lnSpc>
                <a:spcPct val="150000"/>
              </a:lnSpc>
            </a:pPr>
            <a:endParaRPr lang="en-US" sz="2000" b="1" dirty="0" smtClean="0">
              <a:solidFill>
                <a:srgbClr val="7030A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89785" y="0"/>
            <a:ext cx="6002215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b="1" dirty="0" smtClean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Introduction To Docker Compose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What Are YAML Files?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Writing A Docker Compose File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Deploying WordPress Using Docker Compose Creating A Docker Swarm Cluster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Creating A Service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Docker Networks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</a:rPr>
              <a:t>Implementing the Docker Network</a:t>
            </a:r>
          </a:p>
          <a:p>
            <a:pPr>
              <a:lnSpc>
                <a:spcPct val="150000"/>
              </a:lnSpc>
            </a:pPr>
            <a:endParaRPr lang="en-US" sz="2400" b="1" dirty="0" smtClean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8721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Module-7- DOCKER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438131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2665" y="0"/>
            <a:ext cx="5819335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FF0000"/>
                </a:solidFill>
              </a:rPr>
              <a:t>Module 9 – Ansible</a:t>
            </a:r>
            <a:endParaRPr lang="en-US" dirty="0" smtClean="0"/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What Is Ansible Why Ansible?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How Does Ansible Work? Ansible Architecture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Install Ansible On AWS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Creating Ansible Playbooks Ansible Roles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Using Roles In Playbook</a:t>
            </a:r>
          </a:p>
          <a:p>
            <a:pPr marL="0" indent="0" algn="ctr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</a:rPr>
              <a:t>Module 10 – Terraform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What </a:t>
            </a:r>
            <a:r>
              <a:rPr lang="en-US" sz="2400" b="1" dirty="0">
                <a:solidFill>
                  <a:srgbClr val="7030A0"/>
                </a:solidFill>
              </a:rPr>
              <a:t>Is </a:t>
            </a:r>
            <a:r>
              <a:rPr lang="en-US" sz="2000" b="1" dirty="0">
                <a:solidFill>
                  <a:srgbClr val="7030A0"/>
                </a:solidFill>
              </a:rPr>
              <a:t>Infrastructure</a:t>
            </a:r>
            <a:r>
              <a:rPr lang="en-US" sz="2400" b="1" dirty="0">
                <a:solidFill>
                  <a:srgbClr val="7030A0"/>
                </a:solidFill>
              </a:rPr>
              <a:t> As Code (</a:t>
            </a:r>
            <a:r>
              <a:rPr lang="en-US" sz="2400" b="1" dirty="0" err="1">
                <a:solidFill>
                  <a:srgbClr val="7030A0"/>
                </a:solidFill>
              </a:rPr>
              <a:t>IaC</a:t>
            </a:r>
            <a:r>
              <a:rPr lang="en-US" sz="2400" b="1" dirty="0">
                <a:solidFill>
                  <a:srgbClr val="7030A0"/>
                </a:solidFill>
              </a:rPr>
              <a:t>)?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Infrastructure As Code Vs Configuration Management Introduction To Terraform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Installing Terraform For AWS Basic Terraform Operations Terraform Code Basics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Deploying An End To End Architecture Using Terraform</a:t>
            </a:r>
          </a:p>
          <a:p>
            <a:pPr marL="0" indent="0">
              <a:lnSpc>
                <a:spcPct val="160000"/>
              </a:lnSpc>
              <a:buNone/>
            </a:pP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sz="half" idx="2"/>
          </p:nvPr>
        </p:nvSpPr>
        <p:spPr>
          <a:xfrm>
            <a:off x="0" y="0"/>
            <a:ext cx="6372225" cy="6858000"/>
          </a:xfrm>
          <a:blipFill>
            <a:blip r:embed="rId2"/>
            <a:tile tx="0" ty="0" sx="100000" sy="100000" flip="none" algn="tl"/>
          </a:blipFill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b="1" dirty="0" smtClean="0">
                <a:solidFill>
                  <a:srgbClr val="FF0000"/>
                </a:solidFill>
              </a:rPr>
              <a:t>Module 8 </a:t>
            </a:r>
            <a:r>
              <a:rPr lang="en-US" sz="9600" b="1" dirty="0">
                <a:solidFill>
                  <a:srgbClr val="FF0000"/>
                </a:solidFill>
              </a:rPr>
              <a:t>- </a:t>
            </a:r>
            <a:r>
              <a:rPr lang="en-US" sz="9600" b="1" dirty="0" smtClean="0">
                <a:solidFill>
                  <a:srgbClr val="FF0000"/>
                </a:solidFill>
              </a:rPr>
              <a:t>Kubernetes</a:t>
            </a:r>
            <a:endParaRPr lang="en-US" sz="9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dirty="0">
                <a:solidFill>
                  <a:srgbClr val="7030A0"/>
                </a:solidFill>
              </a:rPr>
              <a:t>Introduction To Kubernetes </a:t>
            </a:r>
            <a:endParaRPr lang="en-US" sz="96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dirty="0" smtClean="0">
                <a:solidFill>
                  <a:srgbClr val="7030A0"/>
                </a:solidFill>
              </a:rPr>
              <a:t>Docker </a:t>
            </a:r>
            <a:r>
              <a:rPr lang="en-US" sz="9600" b="1" dirty="0">
                <a:solidFill>
                  <a:srgbClr val="7030A0"/>
                </a:solidFill>
              </a:rPr>
              <a:t>Swarm Vs Kubernetes </a:t>
            </a:r>
            <a:endParaRPr lang="en-US" sz="96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dirty="0" smtClean="0">
                <a:solidFill>
                  <a:srgbClr val="7030A0"/>
                </a:solidFill>
              </a:rPr>
              <a:t>Kubernetes Installation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dirty="0" smtClean="0">
                <a:solidFill>
                  <a:srgbClr val="7030A0"/>
                </a:solidFill>
              </a:rPr>
              <a:t>EKS Set up</a:t>
            </a:r>
            <a:endParaRPr lang="en-US" sz="9600" b="1" dirty="0">
              <a:solidFill>
                <a:srgbClr val="7030A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dirty="0">
                <a:solidFill>
                  <a:srgbClr val="7030A0"/>
                </a:solidFill>
              </a:rPr>
              <a:t>Working Of Kubernetes </a:t>
            </a:r>
            <a:endParaRPr lang="en-US" sz="96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dirty="0" smtClean="0">
                <a:solidFill>
                  <a:srgbClr val="7030A0"/>
                </a:solidFill>
              </a:rPr>
              <a:t>Kubernetes cluster creation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dirty="0" smtClean="0">
                <a:solidFill>
                  <a:srgbClr val="7030A0"/>
                </a:solidFill>
              </a:rPr>
              <a:t>Creation of Worker nodes with group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dirty="0" smtClean="0">
                <a:solidFill>
                  <a:srgbClr val="7030A0"/>
                </a:solidFill>
              </a:rPr>
              <a:t>Creating </a:t>
            </a:r>
            <a:r>
              <a:rPr lang="en-US" sz="9600" b="1" dirty="0">
                <a:solidFill>
                  <a:srgbClr val="7030A0"/>
                </a:solidFill>
              </a:rPr>
              <a:t>An Ingress </a:t>
            </a:r>
            <a:endParaRPr lang="en-US" sz="96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dirty="0" smtClean="0">
                <a:solidFill>
                  <a:srgbClr val="7030A0"/>
                </a:solidFill>
              </a:rPr>
              <a:t>Kubernetes </a:t>
            </a:r>
            <a:r>
              <a:rPr lang="en-US" sz="9600" b="1" dirty="0">
                <a:solidFill>
                  <a:srgbClr val="7030A0"/>
                </a:solidFill>
              </a:rPr>
              <a:t>Pod </a:t>
            </a:r>
            <a:endParaRPr lang="en-US" sz="96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dirty="0" smtClean="0">
                <a:solidFill>
                  <a:srgbClr val="7030A0"/>
                </a:solidFill>
              </a:rPr>
              <a:t>Kubernetes </a:t>
            </a:r>
            <a:r>
              <a:rPr lang="en-US" sz="9600" b="1" dirty="0">
                <a:solidFill>
                  <a:srgbClr val="7030A0"/>
                </a:solidFill>
              </a:rPr>
              <a:t>Job </a:t>
            </a:r>
            <a:endParaRPr lang="en-US" sz="96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dirty="0" smtClean="0">
                <a:solidFill>
                  <a:srgbClr val="7030A0"/>
                </a:solidFill>
              </a:rPr>
              <a:t>Kubernetes </a:t>
            </a:r>
            <a:r>
              <a:rPr lang="en-US" sz="9600" b="1" dirty="0" err="1">
                <a:solidFill>
                  <a:srgbClr val="7030A0"/>
                </a:solidFill>
              </a:rPr>
              <a:t>CronJob</a:t>
            </a:r>
            <a:endParaRPr lang="en-US" sz="9600" b="1" dirty="0">
              <a:solidFill>
                <a:srgbClr val="7030A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dirty="0">
                <a:solidFill>
                  <a:srgbClr val="7030A0"/>
                </a:solidFill>
              </a:rPr>
              <a:t>Kubernetes </a:t>
            </a:r>
            <a:r>
              <a:rPr lang="en-US" sz="9600" b="1" dirty="0" err="1" smtClean="0">
                <a:solidFill>
                  <a:srgbClr val="7030A0"/>
                </a:solidFill>
              </a:rPr>
              <a:t>Configmaps</a:t>
            </a:r>
            <a:endParaRPr lang="en-US" sz="96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dirty="0" smtClean="0">
                <a:solidFill>
                  <a:srgbClr val="7030A0"/>
                </a:solidFill>
              </a:rPr>
              <a:t>Deploy Application in Worker Nodes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641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E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Module -11- TOMCAT</a:t>
            </a:r>
          </a:p>
          <a:p>
            <a:r>
              <a:rPr lang="en-US" sz="2000" b="1" dirty="0" smtClean="0">
                <a:solidFill>
                  <a:srgbClr val="7030A0"/>
                </a:solidFill>
              </a:rPr>
              <a:t>What is Tomcat</a:t>
            </a:r>
          </a:p>
          <a:p>
            <a:r>
              <a:rPr lang="en-US" sz="2000" b="1" dirty="0" smtClean="0">
                <a:solidFill>
                  <a:srgbClr val="7030A0"/>
                </a:solidFill>
              </a:rPr>
              <a:t>How to install Tomcat in windows</a:t>
            </a:r>
          </a:p>
          <a:p>
            <a:r>
              <a:rPr lang="en-US" sz="2000" b="1" dirty="0" smtClean="0">
                <a:solidFill>
                  <a:srgbClr val="7030A0"/>
                </a:solidFill>
              </a:rPr>
              <a:t>How to install Tomcat in Linux / AWS</a:t>
            </a:r>
          </a:p>
          <a:p>
            <a:r>
              <a:rPr lang="en-US" sz="2000" b="1" dirty="0" smtClean="0">
                <a:solidFill>
                  <a:srgbClr val="7030A0"/>
                </a:solidFill>
              </a:rPr>
              <a:t>How to deploy code in Tomcat</a:t>
            </a:r>
          </a:p>
          <a:p>
            <a:r>
              <a:rPr lang="en-US" sz="2000" b="1" dirty="0" smtClean="0">
                <a:solidFill>
                  <a:srgbClr val="7030A0"/>
                </a:solidFill>
              </a:rPr>
              <a:t>Deploying code by using Jenkins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000548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Module-12- ARGOCD</a:t>
            </a:r>
          </a:p>
          <a:p>
            <a:r>
              <a:rPr lang="en-US" sz="2000" b="1" dirty="0" smtClean="0">
                <a:solidFill>
                  <a:srgbClr val="7030A0"/>
                </a:solidFill>
              </a:rPr>
              <a:t> What is Argo CD?</a:t>
            </a:r>
          </a:p>
          <a:p>
            <a:r>
              <a:rPr lang="en-US" sz="2000" b="1" dirty="0" smtClean="0">
                <a:solidFill>
                  <a:srgbClr val="7030A0"/>
                </a:solidFill>
              </a:rPr>
              <a:t> Introduction to Argo CD</a:t>
            </a:r>
          </a:p>
          <a:p>
            <a:r>
              <a:rPr lang="en-US" sz="2000" b="1" dirty="0" smtClean="0">
                <a:solidFill>
                  <a:srgbClr val="7030A0"/>
                </a:solidFill>
              </a:rPr>
              <a:t> Overview of Continuous Delivery</a:t>
            </a:r>
          </a:p>
          <a:p>
            <a:r>
              <a:rPr lang="en-US" sz="2000" b="1" dirty="0" smtClean="0">
                <a:solidFill>
                  <a:srgbClr val="7030A0"/>
                </a:solidFill>
              </a:rPr>
              <a:t> Installation and Setup</a:t>
            </a:r>
          </a:p>
          <a:p>
            <a:r>
              <a:rPr lang="en-US" sz="2000" b="1" dirty="0" smtClean="0">
                <a:solidFill>
                  <a:srgbClr val="7030A0"/>
                </a:solidFill>
              </a:rPr>
              <a:t> CD </a:t>
            </a:r>
            <a:r>
              <a:rPr lang="en-US" sz="2000" b="1" dirty="0" err="1" smtClean="0">
                <a:solidFill>
                  <a:srgbClr val="7030A0"/>
                </a:solidFill>
              </a:rPr>
              <a:t>miniproject</a:t>
            </a:r>
            <a:r>
              <a:rPr lang="en-US" sz="2000" b="1" dirty="0" smtClean="0">
                <a:solidFill>
                  <a:srgbClr val="7030A0"/>
                </a:solidFill>
              </a:rPr>
              <a:t> with </a:t>
            </a:r>
            <a:r>
              <a:rPr lang="en-US" sz="2000" b="1" dirty="0" err="1" smtClean="0">
                <a:solidFill>
                  <a:srgbClr val="7030A0"/>
                </a:solidFill>
              </a:rPr>
              <a:t>argocd</a:t>
            </a:r>
            <a:r>
              <a:rPr lang="en-US" sz="2000" b="1" dirty="0" smtClean="0">
                <a:solidFill>
                  <a:srgbClr val="7030A0"/>
                </a:solidFill>
              </a:rPr>
              <a:t> and k8s</a:t>
            </a:r>
          </a:p>
          <a:p>
            <a:r>
              <a:rPr lang="en-US" sz="2000" b="1" dirty="0" smtClean="0">
                <a:solidFill>
                  <a:srgbClr val="7030A0"/>
                </a:solidFill>
              </a:rPr>
              <a:t>Ultimate CI-CD with </a:t>
            </a:r>
            <a:r>
              <a:rPr lang="en-US" sz="2000" b="1" dirty="0" err="1" smtClean="0">
                <a:solidFill>
                  <a:srgbClr val="7030A0"/>
                </a:solidFill>
              </a:rPr>
              <a:t>Git,Jenkins</a:t>
            </a:r>
            <a:r>
              <a:rPr lang="en-US" sz="2000" b="1" dirty="0" smtClean="0">
                <a:solidFill>
                  <a:srgbClr val="7030A0"/>
                </a:solidFill>
              </a:rPr>
              <a:t> , Maven ,Sonar, Docker , Kubernetes (EKS) &amp; ARGOCD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19136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Module – 13- Monitoring Tools</a:t>
            </a:r>
          </a:p>
          <a:p>
            <a:r>
              <a:rPr lang="en-US" sz="2000" b="1" dirty="0" smtClean="0">
                <a:solidFill>
                  <a:srgbClr val="7030A0"/>
                </a:solidFill>
              </a:rPr>
              <a:t>Nagios</a:t>
            </a:r>
          </a:p>
          <a:p>
            <a:r>
              <a:rPr lang="en-US" sz="2000" b="1" dirty="0" smtClean="0">
                <a:solidFill>
                  <a:srgbClr val="7030A0"/>
                </a:solidFill>
              </a:rPr>
              <a:t>Prometheus</a:t>
            </a:r>
          </a:p>
          <a:p>
            <a:r>
              <a:rPr lang="en-US" sz="2000" b="1" dirty="0" err="1" smtClean="0">
                <a:solidFill>
                  <a:srgbClr val="7030A0"/>
                </a:solidFill>
              </a:rPr>
              <a:t>Grafana</a:t>
            </a:r>
            <a:endParaRPr lang="en-US" sz="2000" b="1" dirty="0" smtClean="0">
              <a:solidFill>
                <a:srgbClr val="7030A0"/>
              </a:solidFill>
            </a:endParaRPr>
          </a:p>
          <a:p>
            <a:endParaRPr lang="en-US" sz="2000" b="1" dirty="0">
              <a:solidFill>
                <a:srgbClr val="7030A0"/>
              </a:solidFill>
            </a:endParaRPr>
          </a:p>
          <a:p>
            <a:pPr algn="ctr"/>
            <a:r>
              <a:rPr lang="en-US" sz="2800" b="1" dirty="0" smtClean="0">
                <a:solidFill>
                  <a:srgbClr val="FF0000"/>
                </a:solidFill>
              </a:rPr>
              <a:t>Module -14 - Project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263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B47EB114-F6D6-5134-3098-21F7DB3FFE58}"/>
              </a:ext>
            </a:extLst>
          </p:cNvPr>
          <p:cNvSpPr txBox="1"/>
          <p:nvPr/>
        </p:nvSpPr>
        <p:spPr>
          <a:xfrm>
            <a:off x="3088634" y="1017141"/>
            <a:ext cx="801528" cy="1081335"/>
          </a:xfrm>
          <a:custGeom>
            <a:avLst/>
            <a:gdLst/>
            <a:ahLst/>
            <a:cxnLst/>
            <a:rect l="l" t="t" r="r" b="b"/>
            <a:pathLst>
              <a:path w="801528" h="1081335">
                <a:moveTo>
                  <a:pt x="0" y="0"/>
                </a:moveTo>
                <a:lnTo>
                  <a:pt x="227342" y="0"/>
                </a:lnTo>
                <a:lnTo>
                  <a:pt x="227342" y="378904"/>
                </a:lnTo>
                <a:cubicBezTo>
                  <a:pt x="257461" y="348786"/>
                  <a:pt x="293894" y="325712"/>
                  <a:pt x="336642" y="309682"/>
                </a:cubicBezTo>
                <a:cubicBezTo>
                  <a:pt x="379390" y="293651"/>
                  <a:pt x="426024" y="285636"/>
                  <a:pt x="476545" y="285636"/>
                </a:cubicBezTo>
                <a:cubicBezTo>
                  <a:pt x="573700" y="285636"/>
                  <a:pt x="652153" y="314782"/>
                  <a:pt x="711903" y="373075"/>
                </a:cubicBezTo>
                <a:cubicBezTo>
                  <a:pt x="771653" y="431368"/>
                  <a:pt x="801528" y="517836"/>
                  <a:pt x="801528" y="632479"/>
                </a:cubicBezTo>
                <a:lnTo>
                  <a:pt x="801528" y="1081335"/>
                </a:lnTo>
                <a:lnTo>
                  <a:pt x="574186" y="1081335"/>
                </a:lnTo>
                <a:lnTo>
                  <a:pt x="574186" y="667455"/>
                </a:lnTo>
                <a:cubicBezTo>
                  <a:pt x="574186" y="605276"/>
                  <a:pt x="560584" y="558884"/>
                  <a:pt x="533381" y="528280"/>
                </a:cubicBezTo>
                <a:cubicBezTo>
                  <a:pt x="506177" y="497676"/>
                  <a:pt x="466829" y="482375"/>
                  <a:pt x="415337" y="482375"/>
                </a:cubicBezTo>
                <a:cubicBezTo>
                  <a:pt x="358016" y="482375"/>
                  <a:pt x="312353" y="500105"/>
                  <a:pt x="278349" y="535567"/>
                </a:cubicBezTo>
                <a:cubicBezTo>
                  <a:pt x="244344" y="571028"/>
                  <a:pt x="227342" y="623735"/>
                  <a:pt x="227342" y="693687"/>
                </a:cubicBezTo>
                <a:lnTo>
                  <a:pt x="227342" y="1081335"/>
                </a:lnTo>
                <a:lnTo>
                  <a:pt x="0" y="108133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15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17E7887D-343B-2C44-A7C9-1B90C1C11430}"/>
              </a:ext>
            </a:extLst>
          </p:cNvPr>
          <p:cNvSpPr txBox="1"/>
          <p:nvPr/>
        </p:nvSpPr>
        <p:spPr>
          <a:xfrm>
            <a:off x="6003285" y="1017141"/>
            <a:ext cx="859821" cy="1081335"/>
          </a:xfrm>
          <a:custGeom>
            <a:avLst/>
            <a:gdLst/>
            <a:ahLst/>
            <a:cxnLst/>
            <a:rect l="l" t="t" r="r" b="b"/>
            <a:pathLst>
              <a:path w="859821" h="1081335">
                <a:moveTo>
                  <a:pt x="0" y="0"/>
                </a:moveTo>
                <a:lnTo>
                  <a:pt x="227342" y="0"/>
                </a:lnTo>
                <a:lnTo>
                  <a:pt x="227342" y="612076"/>
                </a:lnTo>
                <a:lnTo>
                  <a:pt x="559612" y="297294"/>
                </a:lnTo>
                <a:lnTo>
                  <a:pt x="830675" y="297294"/>
                </a:lnTo>
                <a:lnTo>
                  <a:pt x="504234" y="629564"/>
                </a:lnTo>
                <a:lnTo>
                  <a:pt x="859821" y="1081335"/>
                </a:lnTo>
                <a:lnTo>
                  <a:pt x="584387" y="1081335"/>
                </a:lnTo>
                <a:lnTo>
                  <a:pt x="336642" y="773839"/>
                </a:lnTo>
                <a:lnTo>
                  <a:pt x="227342" y="881682"/>
                </a:lnTo>
                <a:lnTo>
                  <a:pt x="227342" y="1081335"/>
                </a:lnTo>
                <a:lnTo>
                  <a:pt x="0" y="108133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15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710A1C0-0A81-389A-BE6D-28A3EC975571}"/>
              </a:ext>
            </a:extLst>
          </p:cNvPr>
          <p:cNvSpPr txBox="1"/>
          <p:nvPr/>
        </p:nvSpPr>
        <p:spPr>
          <a:xfrm>
            <a:off x="2084661" y="1078349"/>
            <a:ext cx="888968" cy="1020127"/>
          </a:xfrm>
          <a:custGeom>
            <a:avLst/>
            <a:gdLst/>
            <a:ahLst/>
            <a:cxnLst/>
            <a:rect l="l" t="t" r="r" b="b"/>
            <a:pathLst>
              <a:path w="888968" h="1020127">
                <a:moveTo>
                  <a:pt x="0" y="0"/>
                </a:moveTo>
                <a:lnTo>
                  <a:pt x="888968" y="0"/>
                </a:lnTo>
                <a:lnTo>
                  <a:pt x="888968" y="192366"/>
                </a:lnTo>
                <a:lnTo>
                  <a:pt x="562527" y="192366"/>
                </a:lnTo>
                <a:lnTo>
                  <a:pt x="562527" y="1020127"/>
                </a:lnTo>
                <a:lnTo>
                  <a:pt x="326440" y="1020127"/>
                </a:lnTo>
                <a:lnTo>
                  <a:pt x="326440" y="192366"/>
                </a:lnTo>
                <a:lnTo>
                  <a:pt x="0" y="19236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15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641BB401-E7A0-AF76-4FD2-60CCB8B0D940}"/>
              </a:ext>
            </a:extLst>
          </p:cNvPr>
          <p:cNvSpPr txBox="1"/>
          <p:nvPr/>
        </p:nvSpPr>
        <p:spPr>
          <a:xfrm>
            <a:off x="4047278" y="1302776"/>
            <a:ext cx="744693" cy="807358"/>
          </a:xfrm>
          <a:custGeom>
            <a:avLst/>
            <a:gdLst/>
            <a:ahLst/>
            <a:cxnLst/>
            <a:rect l="l" t="t" r="r" b="b"/>
            <a:pathLst>
              <a:path w="744693" h="807358">
                <a:moveTo>
                  <a:pt x="367246" y="0"/>
                </a:moveTo>
                <a:cubicBezTo>
                  <a:pt x="488690" y="0"/>
                  <a:pt x="581959" y="28903"/>
                  <a:pt x="647052" y="86710"/>
                </a:cubicBezTo>
                <a:cubicBezTo>
                  <a:pt x="712146" y="144518"/>
                  <a:pt x="744693" y="231714"/>
                  <a:pt x="744693" y="348300"/>
                </a:cubicBezTo>
                <a:lnTo>
                  <a:pt x="744693" y="795699"/>
                </a:lnTo>
                <a:lnTo>
                  <a:pt x="531924" y="795699"/>
                </a:lnTo>
                <a:lnTo>
                  <a:pt x="531924" y="698058"/>
                </a:lnTo>
                <a:cubicBezTo>
                  <a:pt x="489175" y="770925"/>
                  <a:pt x="409508" y="807358"/>
                  <a:pt x="292923" y="807358"/>
                </a:cubicBezTo>
                <a:cubicBezTo>
                  <a:pt x="232686" y="807358"/>
                  <a:pt x="180466" y="797157"/>
                  <a:pt x="136260" y="776754"/>
                </a:cubicBezTo>
                <a:cubicBezTo>
                  <a:pt x="92055" y="756351"/>
                  <a:pt x="58293" y="728176"/>
                  <a:pt x="34976" y="692229"/>
                </a:cubicBezTo>
                <a:cubicBezTo>
                  <a:pt x="11659" y="656282"/>
                  <a:pt x="0" y="615477"/>
                  <a:pt x="0" y="569814"/>
                </a:cubicBezTo>
                <a:cubicBezTo>
                  <a:pt x="0" y="496947"/>
                  <a:pt x="27447" y="439626"/>
                  <a:pt x="82339" y="397849"/>
                </a:cubicBezTo>
                <a:cubicBezTo>
                  <a:pt x="137232" y="356073"/>
                  <a:pt x="221999" y="335184"/>
                  <a:pt x="336642" y="335184"/>
                </a:cubicBezTo>
                <a:lnTo>
                  <a:pt x="517350" y="335184"/>
                </a:lnTo>
                <a:cubicBezTo>
                  <a:pt x="517350" y="285635"/>
                  <a:pt x="502292" y="247502"/>
                  <a:pt x="472173" y="220784"/>
                </a:cubicBezTo>
                <a:cubicBezTo>
                  <a:pt x="442055" y="194067"/>
                  <a:pt x="396878" y="180708"/>
                  <a:pt x="336642" y="180708"/>
                </a:cubicBezTo>
                <a:cubicBezTo>
                  <a:pt x="294866" y="180708"/>
                  <a:pt x="253818" y="187266"/>
                  <a:pt x="213498" y="200382"/>
                </a:cubicBezTo>
                <a:cubicBezTo>
                  <a:pt x="173179" y="213498"/>
                  <a:pt x="138932" y="231229"/>
                  <a:pt x="110757" y="253574"/>
                </a:cubicBezTo>
                <a:lnTo>
                  <a:pt x="29147" y="94726"/>
                </a:lnTo>
                <a:cubicBezTo>
                  <a:pt x="71895" y="64608"/>
                  <a:pt x="123144" y="41291"/>
                  <a:pt x="182895" y="24774"/>
                </a:cubicBezTo>
                <a:cubicBezTo>
                  <a:pt x="242645" y="8258"/>
                  <a:pt x="304095" y="0"/>
                  <a:pt x="367246" y="0"/>
                </a:cubicBezTo>
                <a:close/>
                <a:moveTo>
                  <a:pt x="361417" y="467801"/>
                </a:moveTo>
                <a:cubicBezTo>
                  <a:pt x="268148" y="467801"/>
                  <a:pt x="221514" y="498405"/>
                  <a:pt x="221514" y="559612"/>
                </a:cubicBezTo>
                <a:cubicBezTo>
                  <a:pt x="221514" y="588759"/>
                  <a:pt x="232929" y="611833"/>
                  <a:pt x="255761" y="628835"/>
                </a:cubicBezTo>
                <a:cubicBezTo>
                  <a:pt x="278592" y="645837"/>
                  <a:pt x="309925" y="654339"/>
                  <a:pt x="349758" y="654339"/>
                </a:cubicBezTo>
                <a:cubicBezTo>
                  <a:pt x="388620" y="654339"/>
                  <a:pt x="423110" y="645352"/>
                  <a:pt x="453228" y="627378"/>
                </a:cubicBezTo>
                <a:cubicBezTo>
                  <a:pt x="483346" y="609404"/>
                  <a:pt x="504720" y="582930"/>
                  <a:pt x="517350" y="547954"/>
                </a:cubicBezTo>
                <a:lnTo>
                  <a:pt x="517350" y="467801"/>
                </a:lnTo>
                <a:lnTo>
                  <a:pt x="361417" y="46780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15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5139F942-4AAC-05CB-55EC-7CC8DE9C5808}"/>
              </a:ext>
            </a:extLst>
          </p:cNvPr>
          <p:cNvSpPr txBox="1"/>
          <p:nvPr/>
        </p:nvSpPr>
        <p:spPr>
          <a:xfrm>
            <a:off x="4993634" y="1302777"/>
            <a:ext cx="801529" cy="795699"/>
          </a:xfrm>
          <a:custGeom>
            <a:avLst/>
            <a:gdLst/>
            <a:ahLst/>
            <a:cxnLst/>
            <a:rect l="l" t="t" r="r" b="b"/>
            <a:pathLst>
              <a:path w="801529" h="795699">
                <a:moveTo>
                  <a:pt x="476546" y="0"/>
                </a:moveTo>
                <a:cubicBezTo>
                  <a:pt x="573701" y="0"/>
                  <a:pt x="652153" y="29146"/>
                  <a:pt x="711904" y="87439"/>
                </a:cubicBezTo>
                <a:cubicBezTo>
                  <a:pt x="771654" y="145732"/>
                  <a:pt x="801529" y="232200"/>
                  <a:pt x="801529" y="346843"/>
                </a:cubicBezTo>
                <a:lnTo>
                  <a:pt x="801529" y="795699"/>
                </a:lnTo>
                <a:lnTo>
                  <a:pt x="574186" y="795699"/>
                </a:lnTo>
                <a:lnTo>
                  <a:pt x="574186" y="381819"/>
                </a:lnTo>
                <a:cubicBezTo>
                  <a:pt x="574186" y="319640"/>
                  <a:pt x="560585" y="273248"/>
                  <a:pt x="533381" y="242644"/>
                </a:cubicBezTo>
                <a:cubicBezTo>
                  <a:pt x="506178" y="212040"/>
                  <a:pt x="466830" y="196739"/>
                  <a:pt x="415338" y="196739"/>
                </a:cubicBezTo>
                <a:cubicBezTo>
                  <a:pt x="358017" y="196739"/>
                  <a:pt x="312354" y="214469"/>
                  <a:pt x="278349" y="249931"/>
                </a:cubicBezTo>
                <a:cubicBezTo>
                  <a:pt x="244345" y="285392"/>
                  <a:pt x="227343" y="338099"/>
                  <a:pt x="227343" y="408051"/>
                </a:cubicBezTo>
                <a:lnTo>
                  <a:pt x="227343" y="795699"/>
                </a:lnTo>
                <a:lnTo>
                  <a:pt x="0" y="795699"/>
                </a:lnTo>
                <a:lnTo>
                  <a:pt x="0" y="11658"/>
                </a:lnTo>
                <a:lnTo>
                  <a:pt x="217142" y="11658"/>
                </a:lnTo>
                <a:lnTo>
                  <a:pt x="217142" y="103470"/>
                </a:lnTo>
                <a:cubicBezTo>
                  <a:pt x="247260" y="70437"/>
                  <a:pt x="284665" y="44934"/>
                  <a:pt x="329356" y="26960"/>
                </a:cubicBezTo>
                <a:cubicBezTo>
                  <a:pt x="374047" y="8987"/>
                  <a:pt x="423111" y="0"/>
                  <a:pt x="47654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15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6F35E5E-7687-139C-4E92-8460EBB52C7F}"/>
              </a:ext>
            </a:extLst>
          </p:cNvPr>
          <p:cNvSpPr txBox="1"/>
          <p:nvPr/>
        </p:nvSpPr>
        <p:spPr>
          <a:xfrm>
            <a:off x="8202416" y="1302776"/>
            <a:ext cx="861278" cy="807358"/>
          </a:xfrm>
          <a:custGeom>
            <a:avLst/>
            <a:gdLst/>
            <a:ahLst/>
            <a:cxnLst/>
            <a:rect l="l" t="t" r="r" b="b"/>
            <a:pathLst>
              <a:path w="861278" h="807358">
                <a:moveTo>
                  <a:pt x="431368" y="0"/>
                </a:moveTo>
                <a:cubicBezTo>
                  <a:pt x="513950" y="0"/>
                  <a:pt x="587788" y="17245"/>
                  <a:pt x="652881" y="51735"/>
                </a:cubicBezTo>
                <a:cubicBezTo>
                  <a:pt x="717974" y="86225"/>
                  <a:pt x="768982" y="134074"/>
                  <a:pt x="805900" y="195281"/>
                </a:cubicBezTo>
                <a:cubicBezTo>
                  <a:pt x="842819" y="256489"/>
                  <a:pt x="861278" y="325955"/>
                  <a:pt x="861278" y="403679"/>
                </a:cubicBezTo>
                <a:cubicBezTo>
                  <a:pt x="861278" y="481403"/>
                  <a:pt x="842819" y="550868"/>
                  <a:pt x="805900" y="612076"/>
                </a:cubicBezTo>
                <a:cubicBezTo>
                  <a:pt x="768982" y="673284"/>
                  <a:pt x="717974" y="721133"/>
                  <a:pt x="652881" y="755623"/>
                </a:cubicBezTo>
                <a:cubicBezTo>
                  <a:pt x="587788" y="790113"/>
                  <a:pt x="513950" y="807358"/>
                  <a:pt x="431368" y="807358"/>
                </a:cubicBezTo>
                <a:cubicBezTo>
                  <a:pt x="348786" y="807358"/>
                  <a:pt x="274705" y="790113"/>
                  <a:pt x="209126" y="755623"/>
                </a:cubicBezTo>
                <a:cubicBezTo>
                  <a:pt x="143546" y="721133"/>
                  <a:pt x="92297" y="673284"/>
                  <a:pt x="55378" y="612076"/>
                </a:cubicBezTo>
                <a:cubicBezTo>
                  <a:pt x="18459" y="550868"/>
                  <a:pt x="0" y="481403"/>
                  <a:pt x="0" y="403679"/>
                </a:cubicBezTo>
                <a:cubicBezTo>
                  <a:pt x="0" y="325955"/>
                  <a:pt x="18459" y="256489"/>
                  <a:pt x="55378" y="195281"/>
                </a:cubicBezTo>
                <a:cubicBezTo>
                  <a:pt x="92297" y="134074"/>
                  <a:pt x="143546" y="86225"/>
                  <a:pt x="209126" y="51735"/>
                </a:cubicBezTo>
                <a:cubicBezTo>
                  <a:pt x="274705" y="17245"/>
                  <a:pt x="348786" y="0"/>
                  <a:pt x="431368" y="0"/>
                </a:cubicBezTo>
                <a:close/>
                <a:moveTo>
                  <a:pt x="431368" y="186537"/>
                </a:moveTo>
                <a:cubicBezTo>
                  <a:pt x="373075" y="186537"/>
                  <a:pt x="324983" y="206211"/>
                  <a:pt x="287092" y="245559"/>
                </a:cubicBezTo>
                <a:cubicBezTo>
                  <a:pt x="249202" y="284907"/>
                  <a:pt x="230257" y="337613"/>
                  <a:pt x="230257" y="403679"/>
                </a:cubicBezTo>
                <a:cubicBezTo>
                  <a:pt x="230257" y="469744"/>
                  <a:pt x="249202" y="522451"/>
                  <a:pt x="287092" y="561798"/>
                </a:cubicBezTo>
                <a:cubicBezTo>
                  <a:pt x="324983" y="601146"/>
                  <a:pt x="373075" y="620820"/>
                  <a:pt x="431368" y="620820"/>
                </a:cubicBezTo>
                <a:cubicBezTo>
                  <a:pt x="489660" y="620820"/>
                  <a:pt x="537510" y="601146"/>
                  <a:pt x="574914" y="561798"/>
                </a:cubicBezTo>
                <a:cubicBezTo>
                  <a:pt x="612319" y="522451"/>
                  <a:pt x="631021" y="469744"/>
                  <a:pt x="631021" y="403679"/>
                </a:cubicBezTo>
                <a:cubicBezTo>
                  <a:pt x="631021" y="337613"/>
                  <a:pt x="612319" y="284907"/>
                  <a:pt x="574914" y="245559"/>
                </a:cubicBezTo>
                <a:cubicBezTo>
                  <a:pt x="537510" y="206211"/>
                  <a:pt x="489660" y="186537"/>
                  <a:pt x="431368" y="18653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15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BEB2C6B0-AFA3-0063-6F33-703C99C77FBB}"/>
              </a:ext>
            </a:extLst>
          </p:cNvPr>
          <p:cNvSpPr txBox="1"/>
          <p:nvPr/>
        </p:nvSpPr>
        <p:spPr>
          <a:xfrm>
            <a:off x="7264908" y="1314435"/>
            <a:ext cx="897712" cy="1078421"/>
          </a:xfrm>
          <a:custGeom>
            <a:avLst/>
            <a:gdLst/>
            <a:ahLst/>
            <a:cxnLst/>
            <a:rect l="l" t="t" r="r" b="b"/>
            <a:pathLst>
              <a:path w="897712" h="1078421">
                <a:moveTo>
                  <a:pt x="2915" y="0"/>
                </a:moveTo>
                <a:lnTo>
                  <a:pt x="237544" y="0"/>
                </a:lnTo>
                <a:lnTo>
                  <a:pt x="457600" y="531924"/>
                </a:lnTo>
                <a:lnTo>
                  <a:pt x="679113" y="0"/>
                </a:lnTo>
                <a:lnTo>
                  <a:pt x="897712" y="0"/>
                </a:lnTo>
                <a:lnTo>
                  <a:pt x="543582" y="832133"/>
                </a:lnTo>
                <a:cubicBezTo>
                  <a:pt x="507635" y="922487"/>
                  <a:pt x="463187" y="986124"/>
                  <a:pt x="410237" y="1023042"/>
                </a:cubicBezTo>
                <a:cubicBezTo>
                  <a:pt x="357288" y="1059961"/>
                  <a:pt x="293408" y="1078421"/>
                  <a:pt x="218599" y="1078421"/>
                </a:cubicBezTo>
                <a:cubicBezTo>
                  <a:pt x="177793" y="1078421"/>
                  <a:pt x="137474" y="1072106"/>
                  <a:pt x="97641" y="1059476"/>
                </a:cubicBezTo>
                <a:cubicBezTo>
                  <a:pt x="57807" y="1046846"/>
                  <a:pt x="25260" y="1029357"/>
                  <a:pt x="0" y="1007012"/>
                </a:cubicBezTo>
                <a:lnTo>
                  <a:pt x="83068" y="845249"/>
                </a:lnTo>
                <a:cubicBezTo>
                  <a:pt x="100556" y="860794"/>
                  <a:pt x="120715" y="872938"/>
                  <a:pt x="143547" y="881682"/>
                </a:cubicBezTo>
                <a:cubicBezTo>
                  <a:pt x="166378" y="890426"/>
                  <a:pt x="188967" y="894798"/>
                  <a:pt x="211312" y="894798"/>
                </a:cubicBezTo>
                <a:cubicBezTo>
                  <a:pt x="242402" y="894798"/>
                  <a:pt x="267662" y="887268"/>
                  <a:pt x="287093" y="872209"/>
                </a:cubicBezTo>
                <a:cubicBezTo>
                  <a:pt x="306524" y="857150"/>
                  <a:pt x="324012" y="832133"/>
                  <a:pt x="339557" y="797157"/>
                </a:cubicBezTo>
                <a:lnTo>
                  <a:pt x="342471" y="789871"/>
                </a:lnTo>
                <a:lnTo>
                  <a:pt x="29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15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426CDE06-0849-B5D9-695E-1834B9592470}"/>
              </a:ext>
            </a:extLst>
          </p:cNvPr>
          <p:cNvSpPr txBox="1"/>
          <p:nvPr/>
        </p:nvSpPr>
        <p:spPr>
          <a:xfrm>
            <a:off x="9208836" y="1314434"/>
            <a:ext cx="794242" cy="795700"/>
          </a:xfrm>
          <a:custGeom>
            <a:avLst/>
            <a:gdLst/>
            <a:ahLst/>
            <a:cxnLst/>
            <a:rect l="l" t="t" r="r" b="b"/>
            <a:pathLst>
              <a:path w="794242" h="795700">
                <a:moveTo>
                  <a:pt x="0" y="0"/>
                </a:moveTo>
                <a:lnTo>
                  <a:pt x="227343" y="0"/>
                </a:lnTo>
                <a:lnTo>
                  <a:pt x="227343" y="409509"/>
                </a:lnTo>
                <a:cubicBezTo>
                  <a:pt x="227343" y="535810"/>
                  <a:pt x="280292" y="598961"/>
                  <a:pt x="386192" y="598961"/>
                </a:cubicBezTo>
                <a:cubicBezTo>
                  <a:pt x="440598" y="598961"/>
                  <a:pt x="484318" y="581230"/>
                  <a:pt x="517351" y="545768"/>
                </a:cubicBezTo>
                <a:cubicBezTo>
                  <a:pt x="550384" y="510307"/>
                  <a:pt x="566900" y="457600"/>
                  <a:pt x="566900" y="387649"/>
                </a:cubicBezTo>
                <a:lnTo>
                  <a:pt x="566900" y="0"/>
                </a:lnTo>
                <a:lnTo>
                  <a:pt x="794242" y="0"/>
                </a:lnTo>
                <a:lnTo>
                  <a:pt x="794242" y="784041"/>
                </a:lnTo>
                <a:lnTo>
                  <a:pt x="578558" y="784041"/>
                </a:lnTo>
                <a:lnTo>
                  <a:pt x="578558" y="690772"/>
                </a:lnTo>
                <a:cubicBezTo>
                  <a:pt x="548441" y="724777"/>
                  <a:pt x="512493" y="750766"/>
                  <a:pt x="470716" y="768739"/>
                </a:cubicBezTo>
                <a:cubicBezTo>
                  <a:pt x="428940" y="786713"/>
                  <a:pt x="383763" y="795700"/>
                  <a:pt x="335185" y="795700"/>
                </a:cubicBezTo>
                <a:cubicBezTo>
                  <a:pt x="232201" y="795700"/>
                  <a:pt x="150590" y="766067"/>
                  <a:pt x="90355" y="706803"/>
                </a:cubicBezTo>
                <a:cubicBezTo>
                  <a:pt x="30118" y="647538"/>
                  <a:pt x="0" y="559613"/>
                  <a:pt x="0" y="44302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15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653DF5D1-BFCF-BDBC-25EB-97B5B074E477}"/>
              </a:ext>
            </a:extLst>
          </p:cNvPr>
          <p:cNvSpPr txBox="1"/>
          <p:nvPr/>
        </p:nvSpPr>
        <p:spPr>
          <a:xfrm>
            <a:off x="8432673" y="1489314"/>
            <a:ext cx="400764" cy="434283"/>
          </a:xfrm>
          <a:custGeom>
            <a:avLst/>
            <a:gdLst/>
            <a:ahLst/>
            <a:cxnLst/>
            <a:rect l="l" t="t" r="r" b="b"/>
            <a:pathLst>
              <a:path w="400764" h="434283">
                <a:moveTo>
                  <a:pt x="201111" y="0"/>
                </a:moveTo>
                <a:cubicBezTo>
                  <a:pt x="259403" y="0"/>
                  <a:pt x="307253" y="19674"/>
                  <a:pt x="344657" y="59022"/>
                </a:cubicBezTo>
                <a:cubicBezTo>
                  <a:pt x="382062" y="98370"/>
                  <a:pt x="400764" y="151076"/>
                  <a:pt x="400764" y="217142"/>
                </a:cubicBezTo>
                <a:cubicBezTo>
                  <a:pt x="400764" y="283207"/>
                  <a:pt x="382062" y="335914"/>
                  <a:pt x="344657" y="375261"/>
                </a:cubicBezTo>
                <a:cubicBezTo>
                  <a:pt x="307253" y="414609"/>
                  <a:pt x="259403" y="434283"/>
                  <a:pt x="201111" y="434283"/>
                </a:cubicBezTo>
                <a:cubicBezTo>
                  <a:pt x="142818" y="434283"/>
                  <a:pt x="94726" y="414609"/>
                  <a:pt x="56835" y="375261"/>
                </a:cubicBezTo>
                <a:cubicBezTo>
                  <a:pt x="18945" y="335914"/>
                  <a:pt x="0" y="283207"/>
                  <a:pt x="0" y="217142"/>
                </a:cubicBezTo>
                <a:cubicBezTo>
                  <a:pt x="0" y="151076"/>
                  <a:pt x="18945" y="98370"/>
                  <a:pt x="56835" y="59022"/>
                </a:cubicBezTo>
                <a:cubicBezTo>
                  <a:pt x="94726" y="19674"/>
                  <a:pt x="142818" y="0"/>
                  <a:pt x="2011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15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9FCCC8F1-C8DC-586D-DD64-BCDCFA709046}"/>
              </a:ext>
            </a:extLst>
          </p:cNvPr>
          <p:cNvSpPr txBox="1"/>
          <p:nvPr/>
        </p:nvSpPr>
        <p:spPr>
          <a:xfrm>
            <a:off x="4268791" y="1770577"/>
            <a:ext cx="295836" cy="186538"/>
          </a:xfrm>
          <a:custGeom>
            <a:avLst/>
            <a:gdLst/>
            <a:ahLst/>
            <a:cxnLst/>
            <a:rect l="l" t="t" r="r" b="b"/>
            <a:pathLst>
              <a:path w="295836" h="186538">
                <a:moveTo>
                  <a:pt x="139903" y="0"/>
                </a:moveTo>
                <a:lnTo>
                  <a:pt x="295836" y="0"/>
                </a:lnTo>
                <a:lnTo>
                  <a:pt x="295836" y="80153"/>
                </a:lnTo>
                <a:cubicBezTo>
                  <a:pt x="283206" y="115129"/>
                  <a:pt x="261832" y="141603"/>
                  <a:pt x="231714" y="159577"/>
                </a:cubicBezTo>
                <a:cubicBezTo>
                  <a:pt x="201596" y="177551"/>
                  <a:pt x="167106" y="186538"/>
                  <a:pt x="128244" y="186538"/>
                </a:cubicBezTo>
                <a:cubicBezTo>
                  <a:pt x="88411" y="186538"/>
                  <a:pt x="57078" y="178036"/>
                  <a:pt x="34247" y="161034"/>
                </a:cubicBezTo>
                <a:cubicBezTo>
                  <a:pt x="11415" y="144032"/>
                  <a:pt x="0" y="120958"/>
                  <a:pt x="0" y="91811"/>
                </a:cubicBezTo>
                <a:cubicBezTo>
                  <a:pt x="0" y="30604"/>
                  <a:pt x="46634" y="0"/>
                  <a:pt x="13990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1500" b="1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pic>
        <p:nvPicPr>
          <p:cNvPr id="40" name="Picture 39" descr="A picture containing factory, city, night&#10;&#10;Description automatically generated">
            <a:extLst>
              <a:ext uri="{FF2B5EF4-FFF2-40B4-BE49-F238E27FC236}">
                <a16:creationId xmlns:a16="http://schemas.microsoft.com/office/drawing/2014/main" xmlns="" id="{3050D56B-0780-98FC-036A-7728F79D16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01B83CE6-3B3A-8A93-F89B-700FDE928BBF}"/>
              </a:ext>
            </a:extLst>
          </p:cNvPr>
          <p:cNvSpPr/>
          <p:nvPr/>
        </p:nvSpPr>
        <p:spPr>
          <a:xfrm>
            <a:off x="-1504" y="-1282"/>
            <a:ext cx="12213517" cy="68580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4" name="Picture 103" descr="A close-up of hands shaking&#10;&#10;Description automatically generated with medium confidence">
            <a:extLst>
              <a:ext uri="{FF2B5EF4-FFF2-40B4-BE49-F238E27FC236}">
                <a16:creationId xmlns:a16="http://schemas.microsoft.com/office/drawing/2014/main" xmlns="" id="{8671BBBB-41C7-BB9C-EE9E-04D95D15BF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727" y="3767"/>
            <a:ext cx="7413286" cy="4944662"/>
          </a:xfrm>
          <a:prstGeom prst="rect">
            <a:avLst/>
          </a:prstGeom>
        </p:spPr>
      </p:pic>
      <p:sp>
        <p:nvSpPr>
          <p:cNvPr id="105" name="Rectangle 104">
            <a:extLst>
              <a:ext uri="{FF2B5EF4-FFF2-40B4-BE49-F238E27FC236}">
                <a16:creationId xmlns:a16="http://schemas.microsoft.com/office/drawing/2014/main" xmlns="" id="{9730B0DD-509E-58F4-C587-F1BAD5888813}"/>
              </a:ext>
            </a:extLst>
          </p:cNvPr>
          <p:cNvSpPr/>
          <p:nvPr/>
        </p:nvSpPr>
        <p:spPr>
          <a:xfrm>
            <a:off x="4113" y="0"/>
            <a:ext cx="5170772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xmlns="" id="{C6C532F0-06ED-8281-7F3F-8FD62BAB74A9}"/>
              </a:ext>
            </a:extLst>
          </p:cNvPr>
          <p:cNvGrpSpPr/>
          <p:nvPr/>
        </p:nvGrpSpPr>
        <p:grpSpPr>
          <a:xfrm>
            <a:off x="953145" y="4480144"/>
            <a:ext cx="10960099" cy="1858082"/>
            <a:chOff x="965200" y="4850684"/>
            <a:chExt cx="10960099" cy="1858082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xmlns="" id="{FF97FEF2-4E54-63D0-C09F-E9450C7CA54B}"/>
                </a:ext>
              </a:extLst>
            </p:cNvPr>
            <p:cNvSpPr/>
            <p:nvPr/>
          </p:nvSpPr>
          <p:spPr>
            <a:xfrm>
              <a:off x="965200" y="4850684"/>
              <a:ext cx="10960099" cy="1858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xmlns="" id="{E97FEBE6-374D-9B20-6DB1-02EC46FB9DE6}"/>
                </a:ext>
              </a:extLst>
            </p:cNvPr>
            <p:cNvGrpSpPr/>
            <p:nvPr/>
          </p:nvGrpSpPr>
          <p:grpSpPr>
            <a:xfrm>
              <a:off x="2022005" y="5321208"/>
              <a:ext cx="6549822" cy="784830"/>
              <a:chOff x="1798416" y="4865649"/>
              <a:chExt cx="6549822" cy="784830"/>
            </a:xfrm>
          </p:grpSpPr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xmlns="" id="{6B31BEC8-72CA-3708-B778-E5E0BEE64A0B}"/>
                  </a:ext>
                </a:extLst>
              </p:cNvPr>
              <p:cNvSpPr/>
              <p:nvPr/>
            </p:nvSpPr>
            <p:spPr>
              <a:xfrm>
                <a:off x="1798416" y="5025334"/>
                <a:ext cx="392036" cy="39203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xmlns="" id="{C38B7949-7F9D-23F1-E001-BC19D128EA1D}"/>
                  </a:ext>
                </a:extLst>
              </p:cNvPr>
              <p:cNvGrpSpPr/>
              <p:nvPr/>
            </p:nvGrpSpPr>
            <p:grpSpPr>
              <a:xfrm>
                <a:off x="3907850" y="4865649"/>
                <a:ext cx="4343634" cy="784830"/>
                <a:chOff x="6128494" y="4493768"/>
                <a:chExt cx="4343634" cy="784830"/>
              </a:xfrm>
            </p:grpSpPr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xmlns="" id="{A7AC1FCB-CAE1-D7D3-2FA3-84E4EC96CF8A}"/>
                    </a:ext>
                  </a:extLst>
                </p:cNvPr>
                <p:cNvSpPr txBox="1"/>
                <p:nvPr/>
              </p:nvSpPr>
              <p:spPr>
                <a:xfrm>
                  <a:off x="7605871" y="4493768"/>
                  <a:ext cx="2866257" cy="7848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:r>
                    <a:rPr 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Montserrat" panose="00000500000000000000" pitchFamily="2" charset="0"/>
                    </a:rPr>
                    <a:t>Contact Number</a:t>
                  </a: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b="1" dirty="0" smtClean="0">
                      <a:solidFill>
                        <a:srgbClr val="FF0000"/>
                      </a:solidFill>
                      <a:latin typeface="Montserrat" panose="00000500000000000000" pitchFamily="2" charset="0"/>
                    </a:rPr>
                    <a:t>  9390190337</a:t>
                  </a:r>
                  <a:endParaRPr lang="en-IN" sz="2000" b="1" dirty="0">
                    <a:solidFill>
                      <a:srgbClr val="FF0000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xmlns="" id="{C9A635D9-7F4E-FD69-B399-7D9C8301C0E7}"/>
                    </a:ext>
                  </a:extLst>
                </p:cNvPr>
                <p:cNvGrpSpPr/>
                <p:nvPr/>
              </p:nvGrpSpPr>
              <p:grpSpPr>
                <a:xfrm>
                  <a:off x="6128494" y="4653450"/>
                  <a:ext cx="1477378" cy="483792"/>
                  <a:chOff x="2187749" y="5681980"/>
                  <a:chExt cx="2419031" cy="792152"/>
                </a:xfrm>
              </p:grpSpPr>
              <p:grpSp>
                <p:nvGrpSpPr>
                  <p:cNvPr id="125" name="Group 124">
                    <a:extLst>
                      <a:ext uri="{FF2B5EF4-FFF2-40B4-BE49-F238E27FC236}">
                        <a16:creationId xmlns:a16="http://schemas.microsoft.com/office/drawing/2014/main" xmlns="" id="{D572D65C-B2F3-55CD-7BA7-3D05E386B3D5}"/>
                      </a:ext>
                    </a:extLst>
                  </p:cNvPr>
                  <p:cNvGrpSpPr/>
                  <p:nvPr/>
                </p:nvGrpSpPr>
                <p:grpSpPr>
                  <a:xfrm>
                    <a:off x="2187749" y="5681980"/>
                    <a:ext cx="2419031" cy="792152"/>
                    <a:chOff x="3670001" y="5149238"/>
                    <a:chExt cx="3414540" cy="1118148"/>
                  </a:xfrm>
                </p:grpSpPr>
                <p:sp>
                  <p:nvSpPr>
                    <p:cNvPr id="127" name="Oval 126">
                      <a:extLst>
                        <a:ext uri="{FF2B5EF4-FFF2-40B4-BE49-F238E27FC236}">
                          <a16:creationId xmlns:a16="http://schemas.microsoft.com/office/drawing/2014/main" xmlns="" id="{91D9EE2B-F620-84F4-B482-52FDF57AE4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0001" y="5149238"/>
                      <a:ext cx="1118148" cy="1118148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128" name="Oval 127">
                      <a:extLst>
                        <a:ext uri="{FF2B5EF4-FFF2-40B4-BE49-F238E27FC236}">
                          <a16:creationId xmlns:a16="http://schemas.microsoft.com/office/drawing/2014/main" xmlns="" id="{37BCD243-1819-FD18-BE08-883239C247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78462" y="5149239"/>
                      <a:ext cx="906079" cy="90607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129" name="Oval 128">
                      <a:extLst>
                        <a:ext uri="{FF2B5EF4-FFF2-40B4-BE49-F238E27FC236}">
                          <a16:creationId xmlns:a16="http://schemas.microsoft.com/office/drawing/2014/main" xmlns="" id="{893AEF4E-84D0-3103-117D-23E33D8382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5596" y="5346856"/>
                      <a:ext cx="722909" cy="722909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chemeClr val="bg1">
                            <a:lumMod val="85000"/>
                          </a:schemeClr>
                        </a:gs>
                        <a:gs pos="100000">
                          <a:schemeClr val="bg1"/>
                        </a:gs>
                      </a:gsLst>
                      <a:lin ang="5400000" scaled="1"/>
                      <a:tileRect/>
                    </a:gradFill>
                    <a:ln w="28575">
                      <a:solidFill>
                        <a:schemeClr val="bg1"/>
                      </a:solidFill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p:txBody>
                </p:sp>
              </p:grpSp>
              <p:pic>
                <p:nvPicPr>
                  <p:cNvPr id="126" name="Grafik 8">
                    <a:extLst>
                      <a:ext uri="{FF2B5EF4-FFF2-40B4-BE49-F238E27FC236}">
                        <a16:creationId xmlns:a16="http://schemas.microsoft.com/office/drawing/2014/main" xmlns="" id="{731C1861-77E1-222E-B72B-ED73F9FF38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 cstate="screen">
                    <a:lum bright="-100000"/>
                    <a:extLst>
                      <a:ext uri="{28A0092B-C50C-407E-A947-70E740481C1C}">
                        <a14:useLocalDpi xmlns:a14="http://schemas.microsoft.com/office/drawing/2010/main"/>
                      </a:ext>
                      <a:ext uri="{96DAC541-7B7A-43D3-8B79-37D633B846F1}">
                        <asvg:svgBlip xmlns:asvg="http://schemas.microsoft.com/office/drawing/2016/SVG/main" xmlns="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446604" y="5957199"/>
                    <a:ext cx="241710" cy="24171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xmlns="" id="{75C0B53D-FA84-B51C-A2E7-90A2874E3B4A}"/>
                  </a:ext>
                </a:extLst>
              </p:cNvPr>
              <p:cNvSpPr/>
              <p:nvPr/>
            </p:nvSpPr>
            <p:spPr>
              <a:xfrm>
                <a:off x="7956202" y="5025334"/>
                <a:ext cx="392036" cy="39203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xmlns="" id="{CAED08CB-FC19-D8F4-5CFA-80D8725094F9}"/>
              </a:ext>
            </a:extLst>
          </p:cNvPr>
          <p:cNvGrpSpPr/>
          <p:nvPr/>
        </p:nvGrpSpPr>
        <p:grpSpPr>
          <a:xfrm>
            <a:off x="136744" y="1847532"/>
            <a:ext cx="4905510" cy="1604824"/>
            <a:chOff x="136744" y="1847532"/>
            <a:chExt cx="4905510" cy="1604824"/>
          </a:xfrm>
        </p:grpSpPr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xmlns="" id="{2087B7B7-E389-5833-223A-EF4A842413A9}"/>
                </a:ext>
              </a:extLst>
            </p:cNvPr>
            <p:cNvSpPr txBox="1"/>
            <p:nvPr/>
          </p:nvSpPr>
          <p:spPr>
            <a:xfrm>
              <a:off x="136744" y="1847532"/>
              <a:ext cx="4905510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Thank You</a:t>
              </a:r>
              <a:endParaRPr lang="en-IN" sz="66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xmlns="" id="{D95CF694-67F0-9E31-EECA-19F30AFC0088}"/>
                </a:ext>
              </a:extLst>
            </p:cNvPr>
            <p:cNvSpPr txBox="1"/>
            <p:nvPr/>
          </p:nvSpPr>
          <p:spPr>
            <a:xfrm>
              <a:off x="1298924" y="2990691"/>
              <a:ext cx="2581156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  <a:latin typeface="Montserrat" panose="00000500000000000000" pitchFamily="2" charset="0"/>
                </a:rPr>
                <a:t>Any Questions</a:t>
              </a:r>
              <a:endParaRPr lang="en-IN" sz="24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8218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</TotalTime>
  <Words>732</Words>
  <Application>Microsoft Office PowerPoint</Application>
  <PresentationFormat>Widescreen</PresentationFormat>
  <Paragraphs>216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Montserrat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Module-4-Maven Why Maven? What Is Maven? What Does Maven Do?  Building POM Files  Maven Repositories  Maven Installation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30</cp:revision>
  <dcterms:created xsi:type="dcterms:W3CDTF">2024-08-22T06:28:00Z</dcterms:created>
  <dcterms:modified xsi:type="dcterms:W3CDTF">2024-08-25T08:13:32Z</dcterms:modified>
</cp:coreProperties>
</file>